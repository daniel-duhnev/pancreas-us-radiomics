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60" r:id="rId3"/>
    <p:sldId id="261" r:id="rId4"/>
    <p:sldId id="262" r:id="rId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 roundtripDataSignature="AMtx7mgDv23Ob6DtTlmZbDcBBY0YCkhGD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10"/>
    <p:restoredTop sz="64387"/>
  </p:normalViewPr>
  <p:slideViewPr>
    <p:cSldViewPr snapToGrid="0">
      <p:cViewPr varScale="1">
        <p:scale>
          <a:sx n="76" d="100"/>
          <a:sy n="76" d="100"/>
        </p:scale>
        <p:origin x="15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0" i="0" dirty="0">
                <a:solidFill>
                  <a:srgbClr val="000000"/>
                </a:solidFill>
                <a:effectLst/>
              </a:rPr>
              <a:t>Hello everyone,</a:t>
            </a:r>
          </a:p>
          <a:p>
            <a:r>
              <a:rPr lang="en-GB" b="0" i="0" dirty="0">
                <a:solidFill>
                  <a:srgbClr val="000000"/>
                </a:solidFill>
                <a:effectLst/>
              </a:rPr>
              <a:t>My name is </a:t>
            </a:r>
            <a:r>
              <a:rPr lang="en-GB" b="1" i="0" dirty="0">
                <a:solidFill>
                  <a:srgbClr val="000000"/>
                </a:solidFill>
                <a:effectLst/>
              </a:rPr>
              <a:t>Daniel Duhnev</a:t>
            </a:r>
            <a:r>
              <a:rPr lang="en-GB" b="0" i="0" dirty="0">
                <a:solidFill>
                  <a:srgbClr val="000000"/>
                </a:solidFill>
                <a:effectLst/>
              </a:rPr>
              <a:t>, I'm a second year </a:t>
            </a:r>
            <a:r>
              <a:rPr lang="en-GB" b="1" i="0" dirty="0">
                <a:solidFill>
                  <a:srgbClr val="000000"/>
                </a:solidFill>
                <a:effectLst/>
              </a:rPr>
              <a:t>EMAI</a:t>
            </a:r>
            <a:r>
              <a:rPr lang="en-GB" b="0" i="0" dirty="0">
                <a:solidFill>
                  <a:srgbClr val="000000"/>
                </a:solidFill>
                <a:effectLst/>
              </a:rPr>
              <a:t> student working on my thesis at </a:t>
            </a:r>
            <a:r>
              <a:rPr lang="en-GB" b="1" i="0" dirty="0">
                <a:solidFill>
                  <a:srgbClr val="000000"/>
                </a:solidFill>
                <a:effectLst/>
              </a:rPr>
              <a:t>UPF</a:t>
            </a:r>
            <a:r>
              <a:rPr lang="en-GB" b="0" i="0" dirty="0">
                <a:solidFill>
                  <a:srgbClr val="000000"/>
                </a:solidFill>
                <a:effectLst/>
              </a:rPr>
              <a:t> under the supervision of </a:t>
            </a:r>
            <a:r>
              <a:rPr lang="en-GB" b="1" i="0" dirty="0">
                <a:solidFill>
                  <a:srgbClr val="000000"/>
                </a:solidFill>
                <a:effectLst/>
              </a:rPr>
              <a:t>Gemma </a:t>
            </a:r>
            <a:r>
              <a:rPr lang="en-GB" b="1" i="0" dirty="0" err="1">
                <a:solidFill>
                  <a:srgbClr val="000000"/>
                </a:solidFill>
                <a:effectLst/>
              </a:rPr>
              <a:t>Piella</a:t>
            </a:r>
            <a:r>
              <a:rPr lang="en-GB" b="0" i="0" dirty="0">
                <a:solidFill>
                  <a:srgbClr val="000000"/>
                </a:solidFill>
                <a:effectLst/>
              </a:rPr>
              <a:t>.</a:t>
            </a:r>
          </a:p>
          <a:p>
            <a:r>
              <a:rPr lang="en-GB" b="0" i="0" dirty="0">
                <a:solidFill>
                  <a:srgbClr val="000000"/>
                </a:solidFill>
                <a:effectLst/>
              </a:rPr>
              <a:t>My project investigates whether we can detect pancreas transplant rejection non-invasively, using automated image analysis of ultrasound scans, and how that compares to clinical biomarkers that doctors already measure.</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BACKGROUND &amp; CONTEXT</a:t>
            </a:r>
            <a:r>
              <a:rPr lang="en-GB" b="0" i="0" dirty="0">
                <a:solidFill>
                  <a:srgbClr val="000000"/>
                </a:solidFill>
                <a:effectLst/>
              </a:rPr>
              <a:t> So some context — pancreas transplantation is a treatment for type 1 diabetes, but around 30% of patients experience graft rejection, where the immune system attacks the transplanted organ. Currently the gold standard for diagnosing rejection is biopsy, which is invasive, carries risk of complications, takes time, and is expensive.</a:t>
            </a:r>
            <a:br>
              <a:rPr lang="en-GB" dirty="0"/>
            </a:br>
            <a:endParaRPr lang="en-GB" dirty="0"/>
          </a:p>
          <a:p>
            <a:r>
              <a:rPr lang="en-GB" b="1" i="0" dirty="0">
                <a:solidFill>
                  <a:srgbClr val="000000"/>
                </a:solidFill>
                <a:effectLst/>
              </a:rPr>
              <a:t>THE POTENTIAL OF ULTRASOUND</a:t>
            </a:r>
            <a:r>
              <a:rPr lang="en-GB" b="0" i="0" dirty="0">
                <a:solidFill>
                  <a:srgbClr val="000000"/>
                </a:solidFill>
                <a:effectLst/>
              </a:rPr>
              <a:t> Ultrasound is already used for routine monitoring of these patients — it's non-invasive, real-time, and widely available. As you can see here on the right, this is what a raw pancreas ultrasound looks like — the organ is outlined by the doctor during the exam.</a:t>
            </a:r>
            <a:br>
              <a:rPr lang="en-GB" dirty="0"/>
            </a:br>
            <a:endParaRPr lang="en-GB" dirty="0"/>
          </a:p>
          <a:p>
            <a:r>
              <a:rPr lang="en-GB" b="1" i="0" dirty="0">
                <a:solidFill>
                  <a:srgbClr val="000000"/>
                </a:solidFill>
                <a:effectLst/>
              </a:rPr>
              <a:t>THE CORE RESEARCH QUESTION</a:t>
            </a:r>
            <a:endParaRPr lang="en-GB" b="0" i="0" dirty="0">
              <a:solidFill>
                <a:srgbClr val="000000"/>
              </a:solidFill>
              <a:effectLst/>
            </a:endParaRPr>
          </a:p>
          <a:p>
            <a:r>
              <a:rPr lang="en-GB" b="0" i="0" dirty="0">
                <a:solidFill>
                  <a:srgbClr val="000000"/>
                </a:solidFill>
                <a:effectLst/>
              </a:rPr>
              <a:t>Can we extract quantitative features from these images automatically and use them to predict rejection without a biopsy?</a:t>
            </a:r>
          </a:p>
          <a:p>
            <a:endParaRPr lang="en-GB" dirty="0"/>
          </a:p>
          <a:p>
            <a:r>
              <a:rPr lang="en-GB" b="1" i="0" dirty="0">
                <a:solidFill>
                  <a:srgbClr val="000000"/>
                </a:solidFill>
                <a:effectLst/>
              </a:rPr>
              <a:t>METHODOLOGY &amp; GOALS</a:t>
            </a:r>
            <a:r>
              <a:rPr lang="en-GB" b="0" i="0" dirty="0">
                <a:solidFill>
                  <a:srgbClr val="000000"/>
                </a:solidFill>
                <a:effectLst/>
              </a:rPr>
              <a:t> The goal of this thesis is to compare two approaches:</a:t>
            </a:r>
          </a:p>
          <a:p>
            <a:r>
              <a:rPr lang="en-GB" b="0" i="0" dirty="0">
                <a:solidFill>
                  <a:srgbClr val="000000"/>
                </a:solidFill>
                <a:effectLst/>
              </a:rPr>
              <a:t>AUTOMATED TEXTURE ANALYSIS: Where we extract numerical features from the grayscale image using radiomics.</a:t>
            </a:r>
          </a:p>
          <a:p>
            <a:r>
              <a:rPr lang="en-GB" b="0" i="0" dirty="0">
                <a:solidFill>
                  <a:srgbClr val="000000"/>
                </a:solidFill>
                <a:effectLst/>
              </a:rPr>
              <a:t>CLINICAL BIOMARKERS: Such as ARFI elastography and perfusion measurements that the doctors recorded manually during the same exams.</a:t>
            </a:r>
            <a:br>
              <a:rPr lang="en-GB" dirty="0"/>
            </a:br>
            <a:endParaRPr lang="en-GB" dirty="0"/>
          </a:p>
          <a:p>
            <a:r>
              <a:rPr lang="en-GB" b="1" i="0" dirty="0">
                <a:solidFill>
                  <a:srgbClr val="000000"/>
                </a:solidFill>
                <a:effectLst/>
              </a:rPr>
              <a:t>THE PIPELINE</a:t>
            </a:r>
            <a:r>
              <a:rPr lang="en-GB" b="0" i="0" dirty="0">
                <a:solidFill>
                  <a:srgbClr val="000000"/>
                </a:solidFill>
                <a:effectLst/>
              </a:rPr>
              <a:t> You can see the pipeline at the bottom — we go from raw DICOM images through:</a:t>
            </a:r>
          </a:p>
          <a:p>
            <a:r>
              <a:rPr lang="en-GB" b="0" i="0" dirty="0">
                <a:solidFill>
                  <a:srgbClr val="000000"/>
                </a:solidFill>
                <a:effectLst/>
              </a:rPr>
              <a:t>Contour removal</a:t>
            </a:r>
          </a:p>
          <a:p>
            <a:r>
              <a:rPr lang="en-GB" b="0" i="0" dirty="0">
                <a:solidFill>
                  <a:srgbClr val="000000"/>
                </a:solidFill>
                <a:effectLst/>
              </a:rPr>
              <a:t>Mask erosion (to clean the region of interest)</a:t>
            </a:r>
          </a:p>
          <a:p>
            <a:r>
              <a:rPr lang="en-GB" b="0" i="0" dirty="0">
                <a:solidFill>
                  <a:srgbClr val="000000"/>
                </a:solidFill>
                <a:effectLst/>
              </a:rPr>
              <a:t>Extraction of 93 texture features</a:t>
            </a:r>
          </a:p>
          <a:p>
            <a:r>
              <a:rPr lang="en-GB" b="0" i="0" dirty="0">
                <a:solidFill>
                  <a:srgbClr val="000000"/>
                </a:solidFill>
                <a:effectLst/>
              </a:rPr>
              <a:t>Statistical tests (with multiple testing correction)</a:t>
            </a:r>
          </a:p>
          <a:p>
            <a:r>
              <a:rPr lang="en-GB" b="0" i="0" dirty="0">
                <a:solidFill>
                  <a:srgbClr val="000000"/>
                </a:solidFill>
                <a:effectLst/>
              </a:rPr>
              <a:t>Training machine learning classifiers</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52631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METHODS &amp; DATASET</a:t>
            </a:r>
            <a:r>
              <a:rPr lang="en-GB" b="0" i="0" dirty="0">
                <a:solidFill>
                  <a:srgbClr val="000000"/>
                </a:solidFill>
                <a:effectLst/>
              </a:rPr>
              <a:t> For the study we had data from 56 patients at Hospital Clinic Barcelona, totalling 134 ultrasound studies — so some patients had multiple exams over time.</a:t>
            </a:r>
          </a:p>
          <a:p>
            <a:r>
              <a:rPr lang="en-GB" b="0" i="0" dirty="0">
                <a:solidFill>
                  <a:srgbClr val="000000"/>
                </a:solidFill>
                <a:effectLst/>
              </a:rPr>
              <a:t>[LOOK AT TOP RIGHT FIGURE] As you can see in this figure on the top right, each image goes through preprocessing — we take the ultrasound, extract the organ mask, apply erosion to remove boundary artifacts, and get a clean region of interest.</a:t>
            </a:r>
            <a:br>
              <a:rPr lang="en-GB" dirty="0"/>
            </a:br>
            <a:endParaRPr lang="en-GB" dirty="0"/>
          </a:p>
          <a:p>
            <a:r>
              <a:rPr lang="en-GB" b="1" i="0" dirty="0">
                <a:solidFill>
                  <a:srgbClr val="000000"/>
                </a:solidFill>
                <a:effectLst/>
              </a:rPr>
              <a:t>FEATURE EXTRACTION</a:t>
            </a:r>
            <a:r>
              <a:rPr lang="en-GB" b="0" i="0" dirty="0">
                <a:solidFill>
                  <a:srgbClr val="000000"/>
                </a:solidFill>
                <a:effectLst/>
              </a:rPr>
              <a:t> From each ROI we extracted 93 radiomics texture features using PyRadiomics — these capture things like intensity distributions, spatial patterns, and texture heterogeneity.</a:t>
            </a:r>
            <a:br>
              <a:rPr lang="en-GB" dirty="0"/>
            </a:br>
            <a:endParaRPr lang="en-GB" dirty="0"/>
          </a:p>
          <a:p>
            <a:r>
              <a:rPr lang="en-GB" b="1" i="0" dirty="0">
                <a:solidFill>
                  <a:srgbClr val="000000"/>
                </a:solidFill>
                <a:effectLst/>
              </a:rPr>
              <a:t>STATISTICS &amp; MACHINE LEARNING</a:t>
            </a:r>
            <a:r>
              <a:rPr lang="en-GB" b="0" i="0" dirty="0">
                <a:solidFill>
                  <a:srgbClr val="000000"/>
                </a:solidFill>
                <a:effectLst/>
              </a:rPr>
              <a:t> We then ran statistical tests — Shapiro-Wilk for normality, then either Welch's t-test or Mann-Whitney U depending on the distribution, with Benjamini-Hochberg correction for the 93 comparisons. We also trained logistic regression and random forest classifiers with stratified 5-fold cross-validation.</a:t>
            </a:r>
            <a:br>
              <a:rPr lang="en-GB" dirty="0"/>
            </a:br>
            <a:endParaRPr lang="en-GB" dirty="0"/>
          </a:p>
          <a:p>
            <a:r>
              <a:rPr lang="en-GB" b="1" i="0" dirty="0">
                <a:solidFill>
                  <a:srgbClr val="000000"/>
                </a:solidFill>
                <a:effectLst/>
              </a:rPr>
              <a:t>THE KEY FINDING: RADIOMICS</a:t>
            </a:r>
            <a:r>
              <a:rPr lang="en-GB" b="0" i="0" dirty="0">
                <a:solidFill>
                  <a:srgbClr val="000000"/>
                </a:solidFill>
                <a:effectLst/>
              </a:rPr>
              <a:t> [LOOK AT COMPARISON FIGURE] The key finding — and you can see this clearly in this comparison figure — is that zero out of 93 radiomics features were statistically significant. The machine learning models achieved AUC around 0.5, which is chance level.</a:t>
            </a:r>
          </a:p>
          <a:p>
            <a:r>
              <a:rPr lang="en-GB" b="1" i="0" dirty="0">
                <a:solidFill>
                  <a:srgbClr val="000000"/>
                </a:solidFill>
                <a:effectLst/>
              </a:rPr>
              <a:t>Summary:</a:t>
            </a:r>
            <a:r>
              <a:rPr lang="en-GB" b="0" i="0" dirty="0">
                <a:solidFill>
                  <a:srgbClr val="000000"/>
                </a:solidFill>
                <a:effectLst/>
              </a:rPr>
              <a:t> Radiomics texture features from grayscale ultrasound do not predict rejection.</a:t>
            </a:r>
          </a:p>
          <a:p>
            <a:endParaRPr lang="en-GB" dirty="0"/>
          </a:p>
          <a:p>
            <a:r>
              <a:rPr lang="en-GB" b="1" i="0" dirty="0">
                <a:solidFill>
                  <a:srgbClr val="000000"/>
                </a:solidFill>
                <a:effectLst/>
              </a:rPr>
              <a:t>CLINICAL REPLICATION &amp; VALIDATION</a:t>
            </a:r>
            <a:r>
              <a:rPr lang="en-GB" b="0" i="0" dirty="0">
                <a:solidFill>
                  <a:srgbClr val="000000"/>
                </a:solidFill>
                <a:effectLst/>
              </a:rPr>
              <a:t> However, we also replicated the clinical analysis from Bassaganyas et al. 2025, who used the same dataset.</a:t>
            </a:r>
          </a:p>
          <a:p>
            <a:r>
              <a:rPr lang="en-GB" b="0" i="0" dirty="0">
                <a:solidFill>
                  <a:srgbClr val="000000"/>
                </a:solidFill>
                <a:effectLst/>
              </a:rPr>
              <a:t>Their ARFI elastography measurements — which capture tissue stiffness — showed strong significance, p less than 0.001 in the late post-transplant period.</a:t>
            </a:r>
          </a:p>
          <a:p>
            <a:r>
              <a:rPr lang="en-GB" b="0" i="0" dirty="0">
                <a:solidFill>
                  <a:srgbClr val="000000"/>
                </a:solidFill>
                <a:effectLst/>
              </a:rPr>
              <a:t>Our replication matched their published p-values to three decimal places.</a:t>
            </a:r>
          </a:p>
          <a:p>
            <a:r>
              <a:rPr lang="en-GB" b="1" i="0" dirty="0">
                <a:solidFill>
                  <a:srgbClr val="000000"/>
                </a:solidFill>
                <a:effectLst/>
              </a:rPr>
              <a:t>Conclusion:</a:t>
            </a:r>
            <a:r>
              <a:rPr lang="en-GB" b="0" i="0" dirty="0">
                <a:solidFill>
                  <a:srgbClr val="000000"/>
                </a:solidFill>
                <a:effectLst/>
              </a:rPr>
              <a:t> This validates that our pipeline is correct and the negative radiomics result is genuine, not a bug.</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82109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009564353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ES"/>
          </a:p>
        </p:txBody>
      </p:sp>
      <p:sp>
        <p:nvSpPr>
          <p:cNvPr id="88" name="Google Shape;88;g3009564353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GB" b="1" i="0" dirty="0">
                <a:solidFill>
                  <a:srgbClr val="000000"/>
                </a:solidFill>
                <a:effectLst/>
              </a:rPr>
              <a:t>FURTHER WORK &amp; EXPERIMENTS</a:t>
            </a:r>
            <a:r>
              <a:rPr lang="en-GB" b="0" i="0" dirty="0">
                <a:solidFill>
                  <a:srgbClr val="000000"/>
                </a:solidFill>
                <a:effectLst/>
              </a:rPr>
              <a:t> So looking ahead, I have several experiments planned to strengthen these findings before thesis submission.</a:t>
            </a:r>
          </a:p>
          <a:p>
            <a:endParaRPr lang="en-GB" b="0" i="0" dirty="0">
              <a:solidFill>
                <a:srgbClr val="000000"/>
              </a:solidFill>
              <a:effectLst/>
            </a:endParaRPr>
          </a:p>
          <a:p>
            <a:r>
              <a:rPr lang="en-GB" b="0" i="0" dirty="0">
                <a:solidFill>
                  <a:srgbClr val="000000"/>
                </a:solidFill>
                <a:effectLst/>
              </a:rPr>
              <a:t>ML PIPELINE IMPROVEMENTS: Adding training metrics so we can distinguish between "no signal" and overfitting, and applying recursive feature elimination to see if a smaller subset of features performs better.</a:t>
            </a:r>
          </a:p>
          <a:p>
            <a:r>
              <a:rPr lang="en-GB" b="0" i="0" dirty="0">
                <a:solidFill>
                  <a:srgbClr val="000000"/>
                </a:solidFill>
                <a:effectLst/>
              </a:rPr>
              <a:t>PAIRED ANALYSIS: 14 of our 55 patients have both rejection and non-rejection studies, so we can use each patient as their own control with a Wilcoxon signed-rank test. This eliminates between-patient variability and is the most internally valid test we can run.</a:t>
            </a:r>
          </a:p>
          <a:p>
            <a:r>
              <a:rPr lang="en-GB" b="0" i="0" dirty="0">
                <a:solidFill>
                  <a:srgbClr val="000000"/>
                </a:solidFill>
                <a:effectLst/>
              </a:rPr>
              <a:t>PERIPANCREATIC ANALYSIS: Analysing the tissue surrounding the pancreas — rejection causes inflammation that might extend beyond the organ boundary, and we want to test whether that carries any signal.</a:t>
            </a:r>
          </a:p>
          <a:p>
            <a:r>
              <a:rPr lang="en-GB" b="0" i="0" dirty="0">
                <a:solidFill>
                  <a:srgbClr val="000000"/>
                </a:solidFill>
                <a:effectLst/>
              </a:rPr>
              <a:t>ALTERNATIVE TEXTURE FEATURES: Trying features beyond what PyRadiomics offers — things like Local Binary Patterns, Gabor filters, and Laws' texture energy, which capture different properties of the image.</a:t>
            </a:r>
          </a:p>
          <a:p>
            <a:r>
              <a:rPr lang="en-GB" b="0" i="0" dirty="0">
                <a:solidFill>
                  <a:srgbClr val="000000"/>
                </a:solidFill>
                <a:effectLst/>
              </a:rPr>
              <a:t>STATISTICAL INDEPENDENCE: Properly addressing the repeated measures issue — our 134 studies come from only 55 patients, so they're not truly independent.</a:t>
            </a:r>
            <a:br>
              <a:rPr lang="en-GB" dirty="0"/>
            </a:br>
            <a:endParaRPr lang="en-GB" dirty="0"/>
          </a:p>
          <a:p>
            <a:r>
              <a:rPr lang="en-GB" b="1" i="0" dirty="0">
                <a:solidFill>
                  <a:srgbClr val="000000"/>
                </a:solidFill>
                <a:effectLst/>
              </a:rPr>
              <a:t>TIMELINE &amp; CONCLUSION</a:t>
            </a:r>
            <a:r>
              <a:rPr lang="en-GB" b="0" i="0" dirty="0">
                <a:solidFill>
                  <a:srgbClr val="000000"/>
                </a:solidFill>
                <a:effectLst/>
              </a:rPr>
              <a:t> [LOOK AT THE TIMELINE FIGURE] As you can see in the timeline:</a:t>
            </a:r>
          </a:p>
          <a:p>
            <a:r>
              <a:rPr lang="en-GB" b="0" i="0" dirty="0">
                <a:solidFill>
                  <a:srgbClr val="000000"/>
                </a:solidFill>
                <a:effectLst/>
              </a:rPr>
              <a:t>EARLY MAY: Experiments complete</a:t>
            </a:r>
          </a:p>
          <a:p>
            <a:r>
              <a:rPr lang="en-GB" b="0" i="0" dirty="0">
                <a:solidFill>
                  <a:srgbClr val="000000"/>
                </a:solidFill>
                <a:effectLst/>
              </a:rPr>
              <a:t>MID JUNE: Thesis submission</a:t>
            </a:r>
          </a:p>
          <a:p>
            <a:r>
              <a:rPr lang="en-GB" b="0" i="0" dirty="0">
                <a:solidFill>
                  <a:srgbClr val="000000"/>
                </a:solidFill>
                <a:effectLst/>
              </a:rPr>
              <a:t>MID JULY: </a:t>
            </a:r>
            <a:r>
              <a:rPr lang="en-GB" b="0" i="0" dirty="0" err="1">
                <a:solidFill>
                  <a:srgbClr val="000000"/>
                </a:solidFill>
                <a:effectLst/>
              </a:rPr>
              <a:t>Defense</a:t>
            </a:r>
            <a:endParaRPr lang="en-GB" b="0" i="0" dirty="0">
              <a:solidFill>
                <a:srgbClr val="000000"/>
              </a:solidFill>
              <a:effectLst/>
            </a:endParaRPr>
          </a:p>
          <a:p>
            <a:endParaRPr lang="en-GB" b="0" i="0" dirty="0">
              <a:solidFill>
                <a:srgbClr val="000000"/>
              </a:solidFill>
              <a:effectLst/>
            </a:endParaRPr>
          </a:p>
          <a:p>
            <a:r>
              <a:rPr lang="en-GB" b="0" i="0" dirty="0">
                <a:solidFill>
                  <a:srgbClr val="000000"/>
                </a:solidFill>
                <a:effectLst/>
              </a:rPr>
              <a:t>Thank you.</a:t>
            </a:r>
          </a:p>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43670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txBody>
          <a:bodyPr/>
          <a:lstStyle/>
          <a:p>
            <a:endParaRPr lang="en-ES"/>
          </a:p>
        </p:txBody>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link.springer.com/article/10.1007/s00330-025-11772-1"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392994" y="3227773"/>
            <a:ext cx="8567100" cy="2219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sz="3600" b="1" dirty="0">
                <a:solidFill>
                  <a:srgbClr val="C00000"/>
                </a:solidFill>
                <a:latin typeface="Verdana"/>
              </a:rPr>
              <a:t>Non-invasive Detection of Pancreas Graft Rejection</a:t>
            </a:r>
            <a:endParaRPr lang="en-GB" sz="2400" b="1" i="0" u="none" strike="noStrike" cap="none" noProof="0" dirty="0">
              <a:solidFill>
                <a:schemeClr val="dk1"/>
              </a:solidFill>
              <a:highlight>
                <a:srgbClr val="FFFF00"/>
              </a:highlight>
              <a:latin typeface="Verdana"/>
              <a:ea typeface="Verdana"/>
              <a:cs typeface="Verdana"/>
              <a:sym typeface="Verdana"/>
            </a:endParaRPr>
          </a:p>
          <a:p>
            <a:pPr algn="ctr"/>
            <a:r>
              <a:rPr sz="2000" i="1" dirty="0">
                <a:solidFill>
                  <a:srgbClr val="CC3333"/>
                </a:solidFill>
                <a:latin typeface="Verdana"/>
              </a:rPr>
              <a:t>Comparing Automated Texture Analysis with Clinical Ultrasound Biomarkers</a:t>
            </a:r>
          </a:p>
          <a:p>
            <a:pPr algn="ctr"/>
            <a:endParaRPr sz="2000" i="1" dirty="0">
              <a:solidFill>
                <a:srgbClr val="CC3333"/>
              </a:solidFill>
              <a:latin typeface="Verdana"/>
            </a:endParaRPr>
          </a:p>
          <a:p>
            <a:pPr algn="ctr"/>
            <a:endParaRPr sz="2000" i="1" dirty="0">
              <a:solidFill>
                <a:srgbClr val="CC3333"/>
              </a:solidFill>
              <a:latin typeface="Verdana"/>
            </a:endParaRPr>
          </a:p>
          <a:p>
            <a:pPr algn="ctr"/>
            <a:r>
              <a:rPr sz="1600" b="0" dirty="0">
                <a:solidFill>
                  <a:srgbClr val="333333"/>
                </a:solidFill>
                <a:latin typeface="Verdana"/>
              </a:rPr>
              <a:t>Daniel Duhnev</a:t>
            </a:r>
          </a:p>
          <a:p>
            <a:pPr algn="ctr"/>
            <a:r>
              <a:rPr sz="1400" b="0" dirty="0">
                <a:solidFill>
                  <a:srgbClr val="666666"/>
                </a:solidFill>
                <a:latin typeface="Verdana"/>
              </a:rPr>
              <a:t>EMAI 2024-2026  |  Supervisor: Gemma </a:t>
            </a:r>
            <a:r>
              <a:rPr sz="1400" b="0" dirty="0" err="1">
                <a:solidFill>
                  <a:srgbClr val="666666"/>
                </a:solidFill>
                <a:latin typeface="Verdana"/>
              </a:rPr>
              <a:t>Piella</a:t>
            </a:r>
            <a:r>
              <a:rPr sz="1400" b="0" dirty="0">
                <a:solidFill>
                  <a:srgbClr val="666666"/>
                </a:solidFill>
                <a:latin typeface="Verdana"/>
              </a:rPr>
              <a:t> (UPF)</a:t>
            </a:r>
          </a:p>
        </p:txBody>
      </p:sp>
      <p:pic>
        <p:nvPicPr>
          <p:cNvPr id="85" name="Google Shape;85;p1"/>
          <p:cNvPicPr preferRelativeResize="0"/>
          <p:nvPr/>
        </p:nvPicPr>
        <p:blipFill>
          <a:blip r:embed="rId3">
            <a:alphaModFix/>
          </a:blip>
          <a:stretch>
            <a:fillRect/>
          </a:stretch>
        </p:blipFill>
        <p:spPr>
          <a:xfrm>
            <a:off x="0" y="158872"/>
            <a:ext cx="5778321" cy="1549725"/>
          </a:xfrm>
          <a:prstGeom prst="rect">
            <a:avLst/>
          </a:prstGeom>
          <a:noFill/>
          <a:ln>
            <a:noFill/>
          </a:ln>
        </p:spPr>
      </p:pic>
      <p:pic>
        <p:nvPicPr>
          <p:cNvPr id="1026" name="Picture 2" descr="Akademija FRI">
            <a:extLst>
              <a:ext uri="{FF2B5EF4-FFF2-40B4-BE49-F238E27FC236}">
                <a16:creationId xmlns:a16="http://schemas.microsoft.com/office/drawing/2014/main" id="{6EC35243-4042-4BC1-91E4-0C1EC239B1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878" b="25865"/>
          <a:stretch/>
        </p:blipFill>
        <p:spPr bwMode="auto">
          <a:xfrm>
            <a:off x="5778321" y="158872"/>
            <a:ext cx="6413679" cy="154972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84;p1">
            <a:extLst>
              <a:ext uri="{FF2B5EF4-FFF2-40B4-BE49-F238E27FC236}">
                <a16:creationId xmlns:a16="http://schemas.microsoft.com/office/drawing/2014/main" id="{F6E232B7-6740-4A07-B2ED-71752B77029C}"/>
              </a:ext>
            </a:extLst>
          </p:cNvPr>
          <p:cNvSpPr/>
          <p:nvPr/>
        </p:nvSpPr>
        <p:spPr>
          <a:xfrm>
            <a:off x="1392994" y="2031426"/>
            <a:ext cx="8567100" cy="2219700"/>
          </a:xfrm>
          <a:prstGeom prst="rect">
            <a:avLst/>
          </a:prstGeom>
          <a:noFill/>
          <a:ln>
            <a:noFill/>
          </a:ln>
        </p:spPr>
        <p:txBody>
          <a:bodyPr spcFirstLastPara="1" wrap="square" lIns="91425" tIns="45700" rIns="91425" bIns="45700" anchor="t" anchorCtr="0">
            <a:noAutofit/>
          </a:bodyPr>
          <a:lstStyle/>
          <a:p>
            <a:pPr lvl="0" algn="ctr">
              <a:buSzPts val="1800"/>
            </a:pPr>
            <a:r>
              <a:rPr lang="en-GB" sz="2800" b="1" noProof="0" dirty="0">
                <a:solidFill/>
                <a:latin typeface="Verdana" panose="020B0604030504040204" pitchFamily="34" charset="0"/>
                <a:ea typeface="Verdana" panose="020B0604030504040204" pitchFamily="34" charset="0"/>
                <a:sym typeface="Verdana"/>
              </a:rPr>
              <a:t>EMAI spring event (15 – 17 April 2026)</a:t>
            </a:r>
            <a:br>
              <a:rPr lang="en-GB" sz="2800" b="1" noProof="0" dirty="0">
                <a:latin typeface="Verdana" panose="020B0604030504040204" pitchFamily="34" charset="0"/>
                <a:ea typeface="Verdana" panose="020B0604030504040204" pitchFamily="34" charset="0"/>
                <a:sym typeface="Verdana"/>
              </a:rPr>
            </a:br>
            <a:r>
              <a:rPr lang="en-GB" sz="2800" b="1" noProof="0" dirty="0">
                <a:solidFill/>
                <a:latin typeface="Verdana" panose="020B0604030504040204" pitchFamily="34" charset="0"/>
                <a:ea typeface="Verdana" panose="020B0604030504040204" pitchFamily="34" charset="0"/>
                <a:sym typeface="Verdana"/>
              </a:rPr>
              <a:t>@ University of Ljubljana</a:t>
            </a:r>
            <a:endParaRPr lang="en-GB" sz="2800" b="1" noProof="0" dirty="0">
              <a:latin typeface="Verdana" panose="020B0604030504040204" pitchFamily="34" charset="0"/>
              <a:ea typeface="Verdana" panose="020B0604030504040204" pitchFamily="34" charset="0"/>
              <a:sym typeface="Calibri"/>
            </a:endParaRPr>
          </a:p>
        </p:txBody>
      </p:sp>
      <p:pic>
        <p:nvPicPr>
          <p:cNvPr id="6" name="Google Shape;103;g30095643530_0_15">
            <a:extLst>
              <a:ext uri="{FF2B5EF4-FFF2-40B4-BE49-F238E27FC236}">
                <a16:creationId xmlns:a16="http://schemas.microsoft.com/office/drawing/2014/main" id="{2B47A089-A7A6-4AD9-82F3-4A4A480F8DC9}"/>
              </a:ext>
            </a:extLst>
          </p:cNvPr>
          <p:cNvPicPr preferRelativeResize="0"/>
          <p:nvPr/>
        </p:nvPicPr>
        <p:blipFill rotWithShape="1">
          <a:blip r:embed="rId5">
            <a:alphaModFix/>
          </a:blip>
          <a:srcRect/>
          <a:stretch/>
        </p:blipFill>
        <p:spPr>
          <a:xfrm>
            <a:off x="67455" y="6327231"/>
            <a:ext cx="3020518" cy="459744"/>
          </a:xfrm>
          <a:prstGeom prst="rect">
            <a:avLst/>
          </a:prstGeom>
          <a:noFill/>
          <a:ln>
            <a:noFill/>
          </a:ln>
        </p:spPr>
      </p:pic>
      <p:pic>
        <p:nvPicPr>
          <p:cNvPr id="7" name="Google Shape;104;g30095643530_0_15">
            <a:extLst>
              <a:ext uri="{FF2B5EF4-FFF2-40B4-BE49-F238E27FC236}">
                <a16:creationId xmlns:a16="http://schemas.microsoft.com/office/drawing/2014/main" id="{7FB49208-725D-468F-ADC2-AE651BB6CBD1}"/>
              </a:ext>
            </a:extLst>
          </p:cNvPr>
          <p:cNvPicPr preferRelativeResize="0"/>
          <p:nvPr/>
        </p:nvPicPr>
        <p:blipFill rotWithShape="1">
          <a:blip r:embed="rId6">
            <a:alphaModFix/>
          </a:blip>
          <a:srcRect/>
          <a:stretch/>
        </p:blipFill>
        <p:spPr>
          <a:xfrm>
            <a:off x="10111336" y="6337725"/>
            <a:ext cx="2013209" cy="449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Problem Description</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578067" y="1513077"/>
            <a:ext cx="6006119" cy="4979798"/>
          </a:xfrm>
          <a:prstGeom prst="rect">
            <a:avLst/>
          </a:prstGeom>
          <a:noFill/>
          <a:ln>
            <a:noFill/>
          </a:ln>
        </p:spPr>
        <p:txBody>
          <a:bodyPr spcFirstLastPara="1" wrap="square" lIns="91425" tIns="45700" rIns="91425" bIns="45700" anchor="t" anchorCtr="0">
            <a:noAutofit/>
          </a:bodyPr>
          <a:lstStyle/>
          <a:p>
            <a:pPr>
              <a:lnSpc>
                <a:spcPct val="100000"/>
              </a:lnSpc>
              <a:spcBef>
                <a:spcPts val="300"/>
              </a:spcBef>
            </a:pPr>
            <a:r>
              <a:rPr lang="en-GB" sz="1800" b="1" noProof="0" dirty="0">
                <a:solidFill>
                  <a:srgbClr val="C00000"/>
                </a:solidFill>
                <a:latin typeface="Verdana"/>
              </a:rPr>
              <a:t>Background</a:t>
            </a:r>
          </a:p>
          <a:p>
            <a:pPr lvl="1">
              <a:spcAft>
                <a:spcPts val="200"/>
              </a:spcAft>
            </a:pPr>
            <a:r>
              <a:rPr lang="en-GB" sz="1400" noProof="0" dirty="0">
                <a:solidFill>
                  <a:srgbClr val="333333"/>
                </a:solidFill>
                <a:latin typeface="Verdana"/>
              </a:rPr>
              <a:t>Pancreas transplantation treats type 1 diabetes.</a:t>
            </a:r>
          </a:p>
          <a:p>
            <a:pPr lvl="1">
              <a:spcAft>
                <a:spcPts val="200"/>
              </a:spcAft>
            </a:pPr>
            <a:r>
              <a:rPr lang="en-GB" sz="1400" noProof="0" dirty="0">
                <a:solidFill>
                  <a:srgbClr val="333333"/>
                </a:solidFill>
                <a:latin typeface="Verdana"/>
              </a:rPr>
              <a:t>Graft rejection affects ~30% of patients.</a:t>
            </a:r>
          </a:p>
          <a:p>
            <a:pPr lvl="1">
              <a:spcAft>
                <a:spcPts val="200"/>
              </a:spcAft>
            </a:pPr>
            <a:r>
              <a:rPr lang="en-GB" sz="1400" dirty="0">
                <a:solidFill>
                  <a:srgbClr val="333333"/>
                </a:solidFill>
                <a:latin typeface="Verdana"/>
              </a:rPr>
              <a:t>Current diagnosis relies on invasive biopsy involving risk of complications, delayed results, and high cost.</a:t>
            </a:r>
            <a:endParaRPr lang="en-GB" sz="1400" noProof="0" dirty="0">
              <a:solidFill>
                <a:srgbClr val="333333"/>
              </a:solidFill>
              <a:latin typeface="Verdana"/>
            </a:endParaRPr>
          </a:p>
          <a:p>
            <a:pPr>
              <a:spcBef>
                <a:spcPts val="1200"/>
              </a:spcBef>
            </a:pPr>
            <a:r>
              <a:rPr lang="en-GB" sz="1800" b="1" noProof="0" dirty="0">
                <a:solidFill>
                  <a:srgbClr val="C00000"/>
                </a:solidFill>
                <a:latin typeface="Verdana"/>
              </a:rPr>
              <a:t>Opportunity</a:t>
            </a:r>
          </a:p>
          <a:p>
            <a:pPr lvl="1">
              <a:spcAft>
                <a:spcPts val="200"/>
              </a:spcAft>
            </a:pPr>
            <a:r>
              <a:rPr lang="en-GB" sz="1400" noProof="0" dirty="0">
                <a:solidFill>
                  <a:srgbClr val="333333"/>
                </a:solidFill>
                <a:latin typeface="Verdana"/>
              </a:rPr>
              <a:t>Use Ultrasound images instead - non-invasive, real-time, routine monitoring.</a:t>
            </a:r>
          </a:p>
          <a:p>
            <a:pPr lvl="1">
              <a:spcAft>
                <a:spcPts val="200"/>
              </a:spcAft>
            </a:pPr>
            <a:r>
              <a:rPr lang="en-GB" sz="1400" noProof="0" dirty="0">
                <a:solidFill>
                  <a:srgbClr val="333333"/>
                </a:solidFill>
                <a:latin typeface="Verdana"/>
              </a:rPr>
              <a:t>Research Question: Can automated image analysis detect rejection?</a:t>
            </a:r>
          </a:p>
          <a:p>
            <a:pPr>
              <a:spcBef>
                <a:spcPts val="1200"/>
              </a:spcBef>
            </a:pPr>
            <a:r>
              <a:rPr lang="en-GB" sz="1800" b="1" noProof="0" dirty="0">
                <a:solidFill>
                  <a:srgbClr val="C00000"/>
                </a:solidFill>
                <a:latin typeface="Verdana"/>
              </a:rPr>
              <a:t>Goal</a:t>
            </a:r>
          </a:p>
          <a:p>
            <a:pPr lvl="1"/>
            <a:r>
              <a:rPr lang="en-GB" sz="1400" noProof="0" dirty="0">
                <a:solidFill>
                  <a:srgbClr val="333333"/>
                </a:solidFill>
                <a:latin typeface="Verdana"/>
              </a:rPr>
              <a:t>Compare automated texture features vs clinical biomarkers for rejection detection</a:t>
            </a:r>
          </a:p>
        </p:txBody>
      </p:sp>
      <p:pic>
        <p:nvPicPr>
          <p:cNvPr id="92" name="Google Shape;92;g30095643530_0_1"/>
          <p:cNvPicPr preferRelativeResize="0"/>
          <p:nvPr/>
        </p:nvPicPr>
        <p:blipFill rotWithShape="1">
          <a:blip r:embed="rId3">
            <a:alphaModFix/>
          </a:blip>
          <a:srcRect/>
          <a:stretch/>
        </p:blipFill>
        <p:spPr>
          <a:xfrm>
            <a:off x="10027150" y="122625"/>
            <a:ext cx="2037676" cy="310150"/>
          </a:xfrm>
          <a:prstGeom prst="rect">
            <a:avLst/>
          </a:prstGeom>
          <a:noFill/>
          <a:ln>
            <a:noFill/>
          </a:ln>
        </p:spPr>
      </p:pic>
      <p:pic>
        <p:nvPicPr>
          <p:cNvPr id="94" name="Picture 93" descr="pipeline_overview.png"/>
          <p:cNvPicPr>
            <a:picLocks noChangeAspect="1"/>
          </p:cNvPicPr>
          <p:nvPr/>
        </p:nvPicPr>
        <p:blipFill>
          <a:blip r:embed="rId4"/>
          <a:stretch>
            <a:fillRect/>
          </a:stretch>
        </p:blipFill>
        <p:spPr>
          <a:xfrm>
            <a:off x="6183657" y="4506421"/>
            <a:ext cx="5859665" cy="1690288"/>
          </a:xfrm>
          <a:prstGeom prst="rect">
            <a:avLst/>
          </a:prstGeom>
        </p:spPr>
      </p:pic>
      <p:pic>
        <p:nvPicPr>
          <p:cNvPr id="2" name="Picture 1" descr="01_01_image.png">
            <a:extLst>
              <a:ext uri="{FF2B5EF4-FFF2-40B4-BE49-F238E27FC236}">
                <a16:creationId xmlns:a16="http://schemas.microsoft.com/office/drawing/2014/main" id="{6E458C26-0D0C-908B-EA70-06E4D364DED2}"/>
              </a:ext>
            </a:extLst>
          </p:cNvPr>
          <p:cNvPicPr>
            <a:picLocks noChangeAspect="1"/>
          </p:cNvPicPr>
          <p:nvPr/>
        </p:nvPicPr>
        <p:blipFill>
          <a:blip r:embed="rId5"/>
          <a:stretch>
            <a:fillRect/>
          </a:stretch>
        </p:blipFill>
        <p:spPr>
          <a:xfrm>
            <a:off x="6605263" y="1060869"/>
            <a:ext cx="5016455" cy="3432311"/>
          </a:xfrm>
          <a:prstGeom prst="rect">
            <a:avLst/>
          </a:prstGeom>
        </p:spPr>
      </p:pic>
      <p:sp>
        <p:nvSpPr>
          <p:cNvPr id="4" name="TextBox 3">
            <a:extLst>
              <a:ext uri="{FF2B5EF4-FFF2-40B4-BE49-F238E27FC236}">
                <a16:creationId xmlns:a16="http://schemas.microsoft.com/office/drawing/2014/main" id="{A56A3D17-2641-69FA-71E2-517A3AE48DFF}"/>
              </a:ext>
            </a:extLst>
          </p:cNvPr>
          <p:cNvSpPr txBox="1"/>
          <p:nvPr/>
        </p:nvSpPr>
        <p:spPr>
          <a:xfrm>
            <a:off x="6584186" y="829698"/>
            <a:ext cx="1645920" cy="246221"/>
          </a:xfrm>
          <a:prstGeom prst="rect">
            <a:avLst/>
          </a:prstGeom>
          <a:noFill/>
        </p:spPr>
        <p:txBody>
          <a:bodyPr wrap="square">
            <a:spAutoFit/>
          </a:bodyPr>
          <a:lstStyle/>
          <a:p>
            <a:pPr algn="l">
              <a:defRPr sz="1000" b="0">
                <a:solidFill>
                  <a:srgbClr val="666666"/>
                </a:solidFill>
                <a:latin typeface="Georgia"/>
              </a:defRPr>
            </a:pPr>
            <a:r>
              <a:rPr lang="en-GB" noProof="0" dirty="0"/>
              <a:t>Raw ultrasound</a:t>
            </a:r>
          </a:p>
        </p:txBody>
      </p:sp>
      <p:sp>
        <p:nvSpPr>
          <p:cNvPr id="3" name="TextBox 2">
            <a:extLst>
              <a:ext uri="{FF2B5EF4-FFF2-40B4-BE49-F238E27FC236}">
                <a16:creationId xmlns:a16="http://schemas.microsoft.com/office/drawing/2014/main" id="{0DADD310-77CD-F4BB-7710-F5B625CAA172}"/>
              </a:ext>
            </a:extLst>
          </p:cNvPr>
          <p:cNvSpPr txBox="1"/>
          <p:nvPr/>
        </p:nvSpPr>
        <p:spPr>
          <a:xfrm>
            <a:off x="123964" y="6506116"/>
            <a:ext cx="12319688" cy="246221"/>
          </a:xfrm>
          <a:prstGeom prst="rect">
            <a:avLst/>
          </a:prstGeom>
          <a:noFill/>
        </p:spPr>
        <p:txBody>
          <a:bodyPr wrap="square">
            <a:spAutoFit/>
          </a:bodyPr>
          <a:lstStyle/>
          <a:p>
            <a:pPr algn="l">
              <a:defRPr sz="1000" b="0">
                <a:solidFill>
                  <a:srgbClr val="666666"/>
                </a:solidFill>
                <a:latin typeface="Georgia"/>
              </a:defRPr>
            </a:pPr>
            <a:r>
              <a:rPr dirty="0"/>
              <a:t>Pipeline: DICOM images &gt; contour removal &gt; mask erosion &gt; </a:t>
            </a:r>
            <a:r>
              <a:rPr dirty="0" err="1"/>
              <a:t>PyRadiomics</a:t>
            </a:r>
            <a:r>
              <a:rPr dirty="0"/>
              <a:t> (93 features) &gt; Shapiro-Wilk &gt; Mann-Whitney U / Welch's t-test &gt; BH-FDR correction &gt; </a:t>
            </a:r>
            <a:r>
              <a:rPr dirty="0" err="1"/>
              <a:t>LogReg</a:t>
            </a:r>
            <a:r>
              <a:rPr dirty="0"/>
              <a:t> + Random Forest (stratified 5-fold CV)</a:t>
            </a:r>
          </a:p>
        </p:txBody>
      </p:sp>
    </p:spTree>
    <p:extLst>
      <p:ext uri="{BB962C8B-B14F-4D97-AF65-F5344CB8AC3E}">
        <p14:creationId xmlns:p14="http://schemas.microsoft.com/office/powerpoint/2010/main" val="4030691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Progress: Methods &amp; Results</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841248" y="1690825"/>
            <a:ext cx="5029200" cy="4754880"/>
          </a:xfrm>
          <a:prstGeom prst="rect">
            <a:avLst/>
          </a:prstGeom>
          <a:noFill/>
          <a:ln>
            <a:noFill/>
          </a:ln>
        </p:spPr>
        <p:txBody>
          <a:bodyPr spcFirstLastPara="1" wrap="square" lIns="91425" tIns="45700" rIns="91425" bIns="45700" anchor="t" anchorCtr="0">
            <a:noAutofit/>
          </a:bodyPr>
          <a:lstStyle/>
          <a:p>
            <a:pPr>
              <a:lnSpc>
                <a:spcPct val="100000"/>
              </a:lnSpc>
              <a:spcBef>
                <a:spcPts val="300"/>
              </a:spcBef>
            </a:pPr>
            <a:r>
              <a:rPr lang="en-GB" sz="1800" b="1" noProof="0" dirty="0">
                <a:solidFill>
                  <a:srgbClr val="C00000"/>
                </a:solidFill>
                <a:latin typeface="Verdana"/>
              </a:rPr>
              <a:t>Methodology</a:t>
            </a:r>
          </a:p>
          <a:p>
            <a:pPr lvl="1">
              <a:spcAft>
                <a:spcPts val="100"/>
              </a:spcAft>
            </a:pPr>
            <a:r>
              <a:rPr lang="en-GB" sz="1400" noProof="0" dirty="0">
                <a:solidFill>
                  <a:srgbClr val="333333"/>
                </a:solidFill>
                <a:latin typeface="Verdana"/>
              </a:rPr>
              <a:t>56 patients, 134 ultrasound studies (Hospital Clinic Barcelona)</a:t>
            </a:r>
          </a:p>
          <a:p>
            <a:pPr lvl="1">
              <a:spcAft>
                <a:spcPts val="100"/>
              </a:spcAft>
            </a:pPr>
            <a:r>
              <a:rPr lang="en-GB" sz="1400" noProof="0" dirty="0">
                <a:solidFill>
                  <a:srgbClr val="333333"/>
                </a:solidFill>
                <a:latin typeface="Verdana"/>
              </a:rPr>
              <a:t>Automated segmentation + mask erosion preprocessing</a:t>
            </a:r>
          </a:p>
          <a:p>
            <a:pPr lvl="1">
              <a:spcAft>
                <a:spcPts val="100"/>
              </a:spcAft>
            </a:pPr>
            <a:r>
              <a:rPr lang="en-GB" sz="1400" noProof="0" dirty="0">
                <a:solidFill>
                  <a:srgbClr val="333333"/>
                </a:solidFill>
                <a:latin typeface="Verdana"/>
              </a:rPr>
              <a:t>93 radiomics texture features extracted (</a:t>
            </a:r>
            <a:r>
              <a:rPr lang="en-GB" sz="1400" noProof="0" dirty="0" err="1">
                <a:solidFill>
                  <a:srgbClr val="333333"/>
                </a:solidFill>
                <a:latin typeface="Verdana"/>
              </a:rPr>
              <a:t>PyRadiomics</a:t>
            </a:r>
            <a:r>
              <a:rPr lang="en-GB" sz="1400" noProof="0" dirty="0">
                <a:solidFill>
                  <a:srgbClr val="333333"/>
                </a:solidFill>
                <a:latin typeface="Verdana"/>
              </a:rPr>
              <a:t>)</a:t>
            </a:r>
          </a:p>
          <a:p>
            <a:pPr lvl="1">
              <a:spcAft>
                <a:spcPts val="100"/>
              </a:spcAft>
            </a:pPr>
            <a:r>
              <a:rPr lang="en-GB" sz="1400" noProof="0" dirty="0">
                <a:solidFill>
                  <a:srgbClr val="333333"/>
                </a:solidFill>
                <a:latin typeface="Verdana"/>
              </a:rPr>
              <a:t>Statistical tests: Mann-Whitney U, Welch's t-test, FDR correction</a:t>
            </a:r>
          </a:p>
          <a:p>
            <a:pPr lvl="1">
              <a:spcAft>
                <a:spcPts val="100"/>
              </a:spcAft>
            </a:pPr>
            <a:r>
              <a:rPr lang="en-GB" sz="1400" noProof="0" dirty="0">
                <a:solidFill>
                  <a:srgbClr val="333333"/>
                </a:solidFill>
                <a:latin typeface="Verdana"/>
              </a:rPr>
              <a:t>ML: Logistic Regression + Random Forest (stratified 5-fold CV)</a:t>
            </a:r>
          </a:p>
          <a:p>
            <a:pPr>
              <a:spcBef>
                <a:spcPts val="1000"/>
              </a:spcBef>
            </a:pPr>
            <a:r>
              <a:rPr lang="en-GB" sz="1800" b="1" noProof="0" dirty="0">
                <a:solidFill>
                  <a:srgbClr val="C00000"/>
                </a:solidFill>
                <a:latin typeface="Verdana"/>
              </a:rPr>
              <a:t>Key Finding</a:t>
            </a:r>
          </a:p>
          <a:p>
            <a:pPr lvl="1"/>
            <a:r>
              <a:rPr lang="en-GB" sz="1400" b="1" noProof="0" dirty="0">
                <a:solidFill>
                  <a:srgbClr val="CC0000"/>
                </a:solidFill>
                <a:latin typeface="Verdana"/>
              </a:rPr>
              <a:t>Radiomics texture features do NOT predict rejection</a:t>
            </a:r>
          </a:p>
          <a:p>
            <a:pPr lvl="1"/>
            <a:r>
              <a:rPr lang="en-GB" sz="1400" b="1" noProof="0" dirty="0">
                <a:solidFill>
                  <a:srgbClr val="006600"/>
                </a:solidFill>
                <a:latin typeface="Verdana"/>
              </a:rPr>
              <a:t>Some clinical biomarkers DO predict rejection</a:t>
            </a:r>
          </a:p>
          <a:p>
            <a:pPr lvl="1"/>
            <a:r>
              <a:rPr lang="en-GB" sz="1400" noProof="0" dirty="0">
                <a:solidFill>
                  <a:srgbClr val="333333"/>
                </a:solidFill>
                <a:latin typeface="Verdana"/>
              </a:rPr>
              <a:t>Replication of </a:t>
            </a:r>
            <a:r>
              <a:rPr lang="en-GB" sz="1400" noProof="0" dirty="0">
                <a:solidFill>
                  <a:srgbClr val="333333"/>
                </a:solidFill>
                <a:latin typeface="Verdana"/>
                <a:hlinkClick r:id="rId3"/>
              </a:rPr>
              <a:t>Bassaganyas et al. 2025 </a:t>
            </a:r>
            <a:r>
              <a:rPr lang="en-GB" sz="1400" noProof="0" dirty="0">
                <a:solidFill>
                  <a:srgbClr val="333333"/>
                </a:solidFill>
                <a:latin typeface="Verdana"/>
              </a:rPr>
              <a:t>validated to 3 decimal places</a:t>
            </a:r>
          </a:p>
        </p:txBody>
      </p:sp>
      <p:pic>
        <p:nvPicPr>
          <p:cNvPr id="92" name="Google Shape;92;g30095643530_0_1"/>
          <p:cNvPicPr preferRelativeResize="0"/>
          <p:nvPr/>
        </p:nvPicPr>
        <p:blipFill rotWithShape="1">
          <a:blip r:embed="rId4">
            <a:alphaModFix/>
          </a:blip>
          <a:srcRect/>
          <a:stretch/>
        </p:blipFill>
        <p:spPr>
          <a:xfrm>
            <a:off x="10027150" y="122625"/>
            <a:ext cx="2037676" cy="310150"/>
          </a:xfrm>
          <a:prstGeom prst="rect">
            <a:avLst/>
          </a:prstGeom>
          <a:noFill/>
          <a:ln>
            <a:noFill/>
          </a:ln>
        </p:spPr>
      </p:pic>
      <p:pic>
        <p:nvPicPr>
          <p:cNvPr id="95" name="Picture 94" descr="preprocessing_pipeline_3examples.png"/>
          <p:cNvPicPr>
            <a:picLocks noChangeAspect="1"/>
          </p:cNvPicPr>
          <p:nvPr/>
        </p:nvPicPr>
        <p:blipFill>
          <a:blip r:embed="rId5"/>
          <a:stretch>
            <a:fillRect/>
          </a:stretch>
        </p:blipFill>
        <p:spPr>
          <a:xfrm>
            <a:off x="6095999" y="1306528"/>
            <a:ext cx="5669279" cy="3007373"/>
          </a:xfrm>
          <a:prstGeom prst="rect">
            <a:avLst/>
          </a:prstGeom>
        </p:spPr>
      </p:pic>
      <p:pic>
        <p:nvPicPr>
          <p:cNvPr id="96" name="Picture 95" descr="image.png"/>
          <p:cNvPicPr>
            <a:picLocks noChangeAspect="1"/>
          </p:cNvPicPr>
          <p:nvPr/>
        </p:nvPicPr>
        <p:blipFill>
          <a:blip r:embed="rId6"/>
          <a:stretch>
            <a:fillRect/>
          </a:stretch>
        </p:blipFill>
        <p:spPr>
          <a:xfrm>
            <a:off x="6096000" y="4449375"/>
            <a:ext cx="5669280" cy="2286000"/>
          </a:xfrm>
          <a:prstGeom prst="rect">
            <a:avLst/>
          </a:prstGeom>
        </p:spPr>
      </p:pic>
    </p:spTree>
    <p:extLst>
      <p:ext uri="{BB962C8B-B14F-4D97-AF65-F5344CB8AC3E}">
        <p14:creationId xmlns:p14="http://schemas.microsoft.com/office/powerpoint/2010/main" val="3517833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3" name="Picture 92" descr="timeline.png"/>
          <p:cNvPicPr>
            <a:picLocks noChangeAspect="1"/>
          </p:cNvPicPr>
          <p:nvPr/>
        </p:nvPicPr>
        <p:blipFill>
          <a:blip r:embed="rId3"/>
          <a:stretch>
            <a:fillRect/>
          </a:stretch>
        </p:blipFill>
        <p:spPr>
          <a:xfrm>
            <a:off x="1595273" y="3666613"/>
            <a:ext cx="8636122" cy="3001124"/>
          </a:xfrm>
          <a:prstGeom prst="rect">
            <a:avLst/>
          </a:prstGeom>
        </p:spPr>
      </p:pic>
      <p:sp>
        <p:nvSpPr>
          <p:cNvPr id="90" name="Google Shape;90;g3009564353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lvl="0"/>
            <a:r>
              <a:rPr lang="en-GB" sz="3400" b="1" noProof="0" dirty="0">
                <a:solidFill>
                  <a:srgbClr val="C00000"/>
                </a:solidFill>
                <a:latin typeface="Verdana"/>
              </a:rPr>
              <a:t>Further Work</a:t>
            </a:r>
            <a:endParaRPr lang="en-GB" sz="3400" b="1" noProof="0" dirty="0">
              <a:solidFill>
                <a:srgbClr val="CC0000"/>
              </a:solidFill>
              <a:highlight>
                <a:srgbClr val="FFFF00"/>
              </a:highlight>
              <a:latin typeface="Verdana"/>
              <a:ea typeface="Verdana"/>
              <a:cs typeface="Verdana"/>
              <a:sym typeface="Verdana"/>
            </a:endParaRPr>
          </a:p>
        </p:txBody>
      </p:sp>
      <p:sp>
        <p:nvSpPr>
          <p:cNvPr id="91" name="Google Shape;91;g30095643530_0_1"/>
          <p:cNvSpPr txBox="1">
            <a:spLocks noGrp="1"/>
          </p:cNvSpPr>
          <p:nvPr>
            <p:ph type="body" idx="1"/>
          </p:nvPr>
        </p:nvSpPr>
        <p:spPr>
          <a:xfrm>
            <a:off x="841248" y="1690825"/>
            <a:ext cx="10515600" cy="3200400"/>
          </a:xfrm>
          <a:prstGeom prst="rect">
            <a:avLst/>
          </a:prstGeom>
          <a:noFill/>
          <a:ln>
            <a:noFill/>
          </a:ln>
        </p:spPr>
        <p:txBody>
          <a:bodyPr spcFirstLastPara="1" wrap="square" lIns="91425" tIns="45700" rIns="91425" bIns="45700" anchor="t" anchorCtr="0">
            <a:noAutofit/>
          </a:bodyPr>
          <a:lstStyle/>
          <a:p>
            <a:pPr marL="114300" indent="0">
              <a:lnSpc>
                <a:spcPct val="100000"/>
              </a:lnSpc>
              <a:spcBef>
                <a:spcPts val="300"/>
              </a:spcBef>
              <a:buNone/>
            </a:pPr>
            <a:r>
              <a:rPr lang="en-GB" sz="2000" b="1" noProof="0" dirty="0">
                <a:solidFill>
                  <a:srgbClr val="C00000"/>
                </a:solidFill>
                <a:latin typeface="Verdana"/>
              </a:rPr>
              <a:t>Ongoing Challenges &amp; Next Experiments</a:t>
            </a:r>
          </a:p>
          <a:p>
            <a:pPr lvl="1">
              <a:spcAft>
                <a:spcPts val="200"/>
              </a:spcAft>
            </a:pPr>
            <a:r>
              <a:rPr lang="en-GB" sz="1600" noProof="0" dirty="0">
                <a:solidFill>
                  <a:srgbClr val="333333"/>
                </a:solidFill>
                <a:latin typeface="Verdana"/>
              </a:rPr>
              <a:t>Improve ML pipeline: recursive feature elimination (RFE)</a:t>
            </a:r>
          </a:p>
          <a:p>
            <a:pPr lvl="1">
              <a:spcAft>
                <a:spcPts val="200"/>
              </a:spcAft>
            </a:pPr>
            <a:r>
              <a:rPr lang="en-GB" sz="1600" noProof="0" dirty="0">
                <a:solidFill>
                  <a:srgbClr val="333333"/>
                </a:solidFill>
                <a:latin typeface="Verdana"/>
              </a:rPr>
              <a:t>Paired analysis: analyse patients with both rejection and non-rejection outcomes (Wilcoxon signed-rank test)</a:t>
            </a:r>
          </a:p>
          <a:p>
            <a:pPr lvl="1">
              <a:spcAft>
                <a:spcPts val="200"/>
              </a:spcAft>
            </a:pPr>
            <a:r>
              <a:rPr lang="en-GB" sz="1600" noProof="0" dirty="0">
                <a:solidFill>
                  <a:srgbClr val="333333"/>
                </a:solidFill>
                <a:latin typeface="Verdana"/>
              </a:rPr>
              <a:t>Surrounding tissue analysis: </a:t>
            </a:r>
            <a:r>
              <a:rPr lang="en-GB" sz="1600" dirty="0">
                <a:solidFill>
                  <a:srgbClr val="333333"/>
                </a:solidFill>
                <a:latin typeface="Verdana"/>
              </a:rPr>
              <a:t>Analyse tissue surrounding the pancreas for signs of rejection</a:t>
            </a:r>
            <a:endParaRPr lang="en-GB" sz="1600" noProof="0" dirty="0">
              <a:solidFill>
                <a:srgbClr val="333333"/>
              </a:solidFill>
              <a:latin typeface="Verdana"/>
            </a:endParaRPr>
          </a:p>
          <a:p>
            <a:pPr lvl="1">
              <a:spcAft>
                <a:spcPts val="200"/>
              </a:spcAft>
            </a:pPr>
            <a:r>
              <a:rPr lang="en-GB" sz="1600" noProof="0" dirty="0">
                <a:solidFill>
                  <a:srgbClr val="333333"/>
                </a:solidFill>
                <a:latin typeface="Verdana"/>
              </a:rPr>
              <a:t>Alternative texture features beyond PyRadiomics: LBP, Gabor filters, Laws' energy</a:t>
            </a:r>
          </a:p>
          <a:p>
            <a:pPr lvl="1">
              <a:spcAft>
                <a:spcPts val="200"/>
              </a:spcAft>
            </a:pPr>
            <a:r>
              <a:rPr lang="en-GB" sz="1600" noProof="0" dirty="0">
                <a:solidFill>
                  <a:srgbClr val="333333"/>
                </a:solidFill>
                <a:latin typeface="Verdana"/>
              </a:rPr>
              <a:t>Address repeated measures: 56 patients contribute 134 non-independent studies</a:t>
            </a:r>
          </a:p>
        </p:txBody>
      </p:sp>
      <p:pic>
        <p:nvPicPr>
          <p:cNvPr id="92" name="Google Shape;92;g30095643530_0_1"/>
          <p:cNvPicPr preferRelativeResize="0"/>
          <p:nvPr/>
        </p:nvPicPr>
        <p:blipFill rotWithShape="1">
          <a:blip r:embed="rId4">
            <a:alphaModFix/>
          </a:blip>
          <a:srcRect/>
          <a:stretch/>
        </p:blipFill>
        <p:spPr>
          <a:xfrm>
            <a:off x="10027150" y="122625"/>
            <a:ext cx="2037676" cy="310150"/>
          </a:xfrm>
          <a:prstGeom prst="rect">
            <a:avLst/>
          </a:prstGeom>
          <a:noFill/>
          <a:ln>
            <a:noFill/>
          </a:ln>
        </p:spPr>
      </p:pic>
    </p:spTree>
    <p:extLst>
      <p:ext uri="{BB962C8B-B14F-4D97-AF65-F5344CB8AC3E}">
        <p14:creationId xmlns:p14="http://schemas.microsoft.com/office/powerpoint/2010/main" val="1215667682"/>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1137</Words>
  <Application>Microsoft Macintosh PowerPoint</Application>
  <PresentationFormat>Widescreen</PresentationFormat>
  <Paragraphs>78</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Verdana</vt:lpstr>
      <vt:lpstr>Tema de Office</vt:lpstr>
      <vt:lpstr>PowerPoint Presentation</vt:lpstr>
      <vt:lpstr>Problem Description</vt:lpstr>
      <vt:lpstr>Progress: Methods &amp; Results</vt:lpstr>
      <vt:lpstr>Further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u225955</dc:creator>
  <cp:lastModifiedBy>Duhnev, Daniel</cp:lastModifiedBy>
  <cp:revision>8</cp:revision>
  <dcterms:created xsi:type="dcterms:W3CDTF">2024-09-16T09:57:12Z</dcterms:created>
  <dcterms:modified xsi:type="dcterms:W3CDTF">2026-04-20T09:37:41Z</dcterms:modified>
</cp:coreProperties>
</file>