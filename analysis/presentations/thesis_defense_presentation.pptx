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gDv23Ob6DtTlmZbDcBBY0YCkhG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10"/>
    <p:restoredTop sz="64387"/>
  </p:normalViewPr>
  <p:slideViewPr>
    <p:cSldViewPr snapToGrid="0">
      <p:cViewPr varScale="1">
        <p:scale>
          <a:sx n="53" d="100"/>
          <a:sy n="53" d="100"/>
        </p:scale>
        <p:origin x="137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Good morning. Thank you for being here. My name is Daniel Duhnev and this is my master's thesis for the EMAI programme, supervised by Gemma Piella. The title is 'Non-invasive Detection of Pancreas Graft Rejection'. In the next twenty minutes or so I will show how I tested whether radiomics texture features from ordinary grayscale ultrasound can detect pancreas transplant rejection, and compare that against the clinical ultrasound biomarkers used at Hospital Clinic Barcelona. I'll walk through the motivation, the methods, the results, and what I conclude. Take a breath, speak slowly, and remember: this is a clean, honest negative result with a working positive control - that is a strong scientific story.</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Here is the roadmap. First I motivate the clinical problem - what pancreas rejection is and why biopsy is a problem. Then the data and the full analysis pipeline. Then the results, which are the heart of the talk, including an important positive control. And finally what it all means. I'll keep the methods tight so we have time on results and discussion, which is where your questions will probably focus.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Pancreas transplantation is a treatment for type 1 diabetes - a working graft can restore normal glucose control and free the patient from insulin. But the immune system can attack the graft: that's rejection, and it's a leading cause of graft loss. To confirm rejection today, the reference standard is a percutaneous needle biopsy. That's invasive - it carries a real risk of bleeding and other complications, it can miss the affected region because it samples only a small piece of tissue, results take time, and it's expensive. Because of these downsides biopsy is not done routinely. So there is a clear clinical need for a non-invasive way to monitor the graft. That need is the motivation for this whole thesis.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Ultrasound is an attractive starting point: it's inexpensive, quick, done at the bedside, and uses no ionising radiation. And we know ultrasound CAN see rejection - recent work by Bassaganyas and colleagues at Hospital Clinic, published in 2025, showed that two specialised ultrasound biomarkers discriminate rejection in the late period after transplant: ARFI elastography, which measures tissue stiffness, and dynamic contrast-enhanced ultrasound, which measures perfusion. The catch is that both require special acquisition protocols, extra equipment or contrast agent, and manual measurement by an expert. That sets up my research gap: could we instead use radiomics - fully automated texture analysis - on the plain grayscale B-mode images that are captured in every routine scan? If that worked, it would be essentially free and scalable.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central question of the thesis: can radiomics features from grayscale ultrasound predict rejection? I broke it into five concrete objectives. One - build a pipeline to extract standardised texture features from the graft. Two - test each feature individually with statistics. Three - go multivariate and build machine-learning classifiers. Four - and this is crucial - reproduce the known clinical-biomarker result on the same cohort, as a positive control to prove my pipeline works. Five - directly compare the automated radiomics against the manual clinical biomarkers. Keep these five in mind; my conclusions map straight back onto them.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data comes from Hospital Clinic Barcelona: 137 grayscale ultrasound studies from 55 transplant patients. Of those, 39 studies had clinically diagnosed rejection - and 27 of those 39 were confirmed by biopsy; the rest were clinical diagnoses, because as I said biopsy isn't routine. The remaining 98 studies had no rejection, so the classes are imbalanced, roughly 72 to 28. One important subtlety: many patients contributed several scans over time. If I just pooled all 137 studies as if they were independent, I'd be double-counting patients and that artificially inflates statistical significance - it's a repeated-measures problem. So my primary analysis takes just one study per patient, giving a clean independent dataset of 55. The full 137 is kept only as an exploratory supplement in the appendix. If a committee member asks 'why 55 and not 137', this is the answer - statistical independence.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Before extracting any features I had to isolate the graft tissue itself. The clinicians had drawn a contour around the pancreas graft on each image. I remove that drawn contour line - otherwise the bright annotation would contaminate the texture - and then I erode the mask inward by a small amount, a 3-by-3 kernel for one iteration. Eroding pulls the region of interest away from the bright edge of the graft so I'm measuring genuine internal tissue texture, not the boundary. The output, shown on the right, is a clean graft-only region that goes into feature extraction. I tested different erosion kernels and this was a reasonable, conservative choice.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For the features I used PyRadiomics, a standard, IBSI-compliant library, so the extraction is reproducible and comparable with other studies. From each graft region it computes 93 features in six families: first-order intensity statistics, and five texture families - GLCM, GLRLM, GLSZM, GLDM and NGTDM - which capture spatial patterns like coarseness, homogeneity and contrast. Because ultrasound brightness depends on machine settings like gain and depth, I applied per-image z-score normalisation so I'm comparing texture, not scanner settings; this normalised pipeline is the canonical one in the thesis. The heatmap on the right shows the features are highly correlated - many are redundant - which matters for the machine learning step. In short, each image becomes a 93-number fingerprint of its texture.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first analysis is univariate: for each of the 93 features, does it differ between the rejection and no-rejection groups? For each feature I first run a Shapiro-Wilk test to check normality, and based on that I pick the appropriate test - Welch's t-test if it's roughly normal, Mann-Whitney U if not. Because I'm running 93 tests at once, some will look significant by chance, so I apply Benjamini-Hochberg false-discovery-rate correction. And I always report effect sizes, not just p-values, because with a modest sample a p-value alone can mislead. This is textbook, defensible methodology - and it's exactly the same pipeline I later apply to the clinical biomarkers as my control.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Individual features might miss a signal that only appears when features are combined, so next I built classifiers. First I remove redundancy: if two features correlate above 0.9 I drop one, which takes 93 down to 27. Then everything sits inside a scikit-learn pipeline - scaling, then SelectKBest with ANOVA F to pick the best k features, then the classifier - and crucially the whole pipeline is fit inside cross-validation so there's no information leakage from the test fold. I tried four classifiers: logistic regression, random forest, SVM and naive Bayes, and I jointly tuned both the hyper-parameters and the number of features k using grid search. I evaluated with stratified k-fold and leave-one-out cross-validation, and I put bootstrap 95% confidence intervals on the AUCs so we can see whether performance is really above chance. If asked about leakage: feature selection is inside the CV loop, so it's clean.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Here's the first main result, and it's a clean null. After false-discovery-rate correction, zero of the 93 radiomics features significantly discriminate rejection. A handful of raw p-values dip under 0.05 - which is exactly what you'd expect by chance out of 93 tests - but none of them survive correction. The effect sizes are small and, as you can see in the boxplots on the right, the rejection and no-rejection distributions sit right on top of each other. And this isn't a quirk of the smaller dataset: the same null holds whether I use the independent 55 or the full 137. So at the single-feature level, grayscale texture shows no signal for rejection.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Machine learning tells the same story. The best classifier was logistic regression, with a cross-validated AUC of 0.636. But look at the confidence interval: 0.48 to 0.78. It crosses 0.5, which means we cannot distinguish it from random guessing. The other models were similar or worse - random forest 0.59, naive Bayes 0.62, and SVM actually below chance at 0.41, which is a sign it just latched onto the majority class. On the ROC plot the curves hug the diagonal. So combining features multivariately does not rescue a signal that wasn't there univariately. At this point a natural worry is: maybe my whole pipeline is broken and would find nothing anywhere. The next slide addresses exactly that.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that makes the whole thesis credible. I took the exact same statistical pipeline and pointed it at the clinical biomarkers recorded for the same patients. And it works: ARFI elastography, the stiffness measure, strongly discriminates rejection in the late post-transplant period - p less than 0.001 and a large effect size, r equals 0.72. In fact my numbers match the published Bassaganyas 2025 result to three decimal places, which validates that I've reproduced their analysis faithfully. The logic here is important: my pipeline CAN detect rejection when a real signal is present in the data. So the radiomics null is a genuine finding about grayscale texture, not a bug or an underpowered mistake. This is the positive control that separates a strong negative result from a weak one.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my favourite slide because it's a genuine insight, not just another null. If ARFI detects rejection so strongly, why can't texture pick up anything? I looked at the subset of patients who had both a rejection scan and a non-rejection scan, and compared each patient against themselves - a paired within-patient test. The paired ARFI change was p equals 0.86 - essentially zero within-patient difference. That means the strong ARFI signal is really a between-patient effect: patients who reject tend to have stiffer grafts in the late period as a baseline characteristic, rather than the stiffness jumping up transiently at the moment of rejection. That reframes the negative result. Grayscale texture is being asked to catch a transient, cross-sectional change that may simply not exist in a detectable form. I present this as hypothesis-generating - it's a smaller paired sample - but it's a coherent explanation.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 didn't want the null to depend on any single modelling choice, so I attacked it from several directions. I re-ran the analysis paired within patients. I went beyond PyRadiomics and added three completely different texture families - Local Binary Patterns, Gabor filters, and Laws' texture energy - 153 features in total. I tried normalising the graft against its surrounding tissue, shown on the right, in case absolute intensity was washing out a relative difference. And I ran the full 137-study dataset as an exploratory check. Every one of these came back null. When a result is that stable across preprocessing, feature type, and dataset, you can be confident it's real and not an artefact of one arbitrary decision. That robustness is a big part of why I'm comfortable standing behind the conclusion.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So what does this mean? The interpretation is that the information distinguishing rejection lives in the physical tissue properties that specialised ultrasound measures - stiffness via ARFI and perfusion via contrast ultrasound - and those simply aren't encoded in the brightness texture patterns of a standard B-mode image. Radiomics can only work with what's in the pixels, and this particular signal isn't there. I want to frame this as a strength, not a disappointment. It's a well-controlled negative result: the pipeline is validated by the ARFI positive control, and the null survives every robustness check. That's scientifically valuable - a negative result with a working control is far more informative than a noisy positive one. And it's clinically useful: it tells the field not to chase a cheap grayscale-radiomics shortcut, and to keep investing in the biomarkers that actually work.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 want to be upfront about the limitations, because the committee will probe them. The sample is modest and from a single centre, so I can't claim this generalises everywhere. The images are 2D single frames, so I'm not capturing volumetric or temporal texture that a full cine-loop or 3D scan might contain. My outcome label is clinical rejection, and only 27 of the 39 rejection cases were biopsy-confirmed, so there's some label noise. The classes are imbalanced at roughly 72 to 28, which makes classifier training harder. And it's retrospective with hand-drawn regions, which adds variability. That said - and this is my key defence - none of these fully explains the null, because the positive control worked on the very same data with the very same limitations. So the limitations qualify the generality of the finding, but they don't undermine the core conclusion.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To conclude, mapping back to my five objectives. I built the extraction pipeline and the statistical and machine-learning analyses. The answer to the central question is no: automated grayscale radiomics does not detect pancreas rejection - no feature survived correction and classifiers performed at chance, around 0.64 AUC with an interval crossing 0.5. Objective four, the control, succeeded and validated everything: I reproduced the ARFI result at p below 0.001 and r equal 0.72. And the comparison in objective five revealed that the ARFI signal is a between-patient baseline-stiffness effect. The bottom line for the clinic: the specialised biomarkers that measure stiffness and perfusion remain necessary - a texture shortcut on ordinary images won't replace them.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Where could this go next? Deep learning on the raw images might find representations that hand-crafted texture features miss, though it needs more data. Multi-parametric models that fuse B-mode with ARFI and perfusion are probably the most promising clinical direction. Larger, multi-centre, prospective cohorts with biopsy-confirmed labels would settle generalisability and label noise. And moving to 3D or cine-loop ultrasound would add the volumetric and temporal texture I couldn't access here. That's the end of my talk. Thank you for your attention - and thank you to Gemma and to the clinical team at Hospital Clinic. I'm very happy to take your questions. [Reminder to self: breathe, and if you don't know an answer, it's fine to say you'd need to check - reason out loud from what you do know.]</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Divider - these slides are only shown if a question calls for them.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Backup for detailed statistics questions. The independent dataset is 55 studies, one per patient. Per feature I chose the test by Shapiro-Wilk, then applied Benjamini-Hochberg across all 93 features. Nothing reached q below 0.05, and the plot compares per-feature p-values between the full and independent datasets - they tell the same null story. The complete table is in Appendix B if you want exact numbers for any feature.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Backup on the replication. I reproduced the published clinical-biomarker analysis on the same patients, matching their ARFI result to three decimal places, p below 0.001 and r 0.72 in the late period. I ran the DCE-US perfusion parameters through the identical pipeline too. This is the evidence that my methods are sound and can detect a real signal when one exists.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Backup for machine-learning questions. The correlation pre-filter drops one of each pair of features correlating above 0.9, keeping 27. The number of selected features k was tuned jointly with each model's hyper-parameters inside cross-validation. The four AUCs were 0.636 for logistic regression, 0.588 random forest, 0.618 naive Bayes, and 0.408 SVM. The extreme sensitivity or specificity values, like SVM predicting almost everything as one class, are symptoms of class imbalance rather than a real signal. Every confidence interval came from 1000 bootstrap resamples.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Backup on the full dataset. Using all 137 studies violates independence because patients repeat, so it's only exploratory, in Appendix A. I include it because it reaches the same null as the 55-study primary analysis, which reassures that the primary result isn't just a small-sample fluke - more data, same answer.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txBody>
          <a:bodyPr/>
          <a:lstStyle/>
          <a:p>
            <a:endParaRPr lang="en-ES"/>
          </a:p>
        </p:txBody>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392994" y="3227773"/>
            <a:ext cx="8567100" cy="2219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sz="3600" b="1" dirty="0">
                <a:solidFill>
                  <a:srgbClr val="C00000"/>
                </a:solidFill>
                <a:latin typeface="Verdana"/>
              </a:rPr>
              <a:t>Non-invasive Detection of Pancreas Graft Rejection</a:t>
            </a:r>
            <a:endParaRPr lang="en-GB" sz="2400" b="1" i="0" u="none" strike="noStrike" cap="none" noProof="0" dirty="0">
              <a:solidFill>
                <a:schemeClr val="dk1"/>
              </a:solidFill>
              <a:highlight>
                <a:srgbClr val="FFFF00"/>
              </a:highlight>
              <a:latin typeface="Verdana"/>
              <a:ea typeface="Verdana"/>
              <a:cs typeface="Verdana"/>
              <a:sym typeface="Verdana"/>
            </a:endParaRPr>
          </a:p>
          <a:p>
            <a:pPr algn="ctr"/>
            <a:r>
              <a:rPr sz="2000" i="1" dirty="0">
                <a:solidFill>
                  <a:srgbClr val="CC3333"/>
                </a:solidFill>
                <a:latin typeface="Verdana"/>
              </a:rPr>
              <a:t>Comparing Automated Texture Analysis with Clinical Ultrasound Biomarkers</a:t>
            </a:r>
          </a:p>
          <a:p>
            <a:pPr algn="ctr"/>
            <a:endParaRPr sz="2000" i="1" dirty="0">
              <a:solidFill>
                <a:srgbClr val="CC3333"/>
              </a:solidFill>
              <a:latin typeface="Verdana"/>
            </a:endParaRPr>
          </a:p>
          <a:p>
            <a:pPr algn="ctr"/>
            <a:endParaRPr sz="2000" i="1" dirty="0">
              <a:solidFill>
                <a:srgbClr val="CC3333"/>
              </a:solidFill>
              <a:latin typeface="Verdana"/>
            </a:endParaRPr>
          </a:p>
          <a:p>
            <a:pPr algn="ctr"/>
            <a:r>
              <a:rPr sz="1600" b="0" dirty="0">
                <a:solidFill>
                  <a:srgbClr val="333333"/>
                </a:solidFill>
                <a:latin typeface="Verdana"/>
              </a:rPr>
              <a:t>Daniel Duhnev</a:t>
            </a:r>
          </a:p>
          <a:p>
            <a:pPr algn="ctr"/>
            <a:r>
              <a:rPr sz="1400" b="0" dirty="0">
                <a:solidFill>
                  <a:srgbClr val="666666"/>
                </a:solidFill>
                <a:latin typeface="Verdana"/>
              </a:rPr>
              <a:t>EMAI 2024-2026  |  Supervisor: Gemma </a:t>
            </a:r>
            <a:r>
              <a:rPr sz="1400" b="0" dirty="0" err="1">
                <a:solidFill>
                  <a:srgbClr val="666666"/>
                </a:solidFill>
                <a:latin typeface="Verdana"/>
              </a:rPr>
              <a:t>Piella</a:t>
            </a:r>
            <a:r>
              <a:rPr sz="1400" b="0" dirty="0">
                <a:solidFill>
                  <a:srgbClr val="666666"/>
                </a:solidFill>
                <a:latin typeface="Verdana"/>
              </a:rPr>
              <a:t> (UPF)</a:t>
            </a:r>
          </a:p>
        </p:txBody>
      </p:sp>
      <p:pic>
        <p:nvPicPr>
          <p:cNvPr id="85" name="Google Shape;85;p1"/>
          <p:cNvPicPr preferRelativeResize="0"/>
          <p:nvPr/>
        </p:nvPicPr>
        <p:blipFill>
          <a:blip r:embed="rId3">
            <a:alphaModFix/>
          </a:blip>
          <a:stretch>
            <a:fillRect/>
          </a:stretch>
        </p:blipFill>
        <p:spPr>
          <a:xfrm>
            <a:off x="-1" y="0"/>
            <a:ext cx="5778321" cy="1549725"/>
          </a:xfrm>
          <a:prstGeom prst="rect">
            <a:avLst/>
          </a:prstGeom>
          <a:noFill/>
          <a:ln>
            <a:noFill/>
          </a:ln>
        </p:spPr>
      </p:pic>
      <p:sp>
        <p:nvSpPr>
          <p:cNvPr id="5" name="Google Shape;84;p1">
            <a:extLst>
              <a:ext uri="{FF2B5EF4-FFF2-40B4-BE49-F238E27FC236}">
                <a16:creationId xmlns:a16="http://schemas.microsoft.com/office/drawing/2014/main" id="{F6E232B7-6740-4A07-B2ED-71752B77029C}"/>
              </a:ext>
            </a:extLst>
          </p:cNvPr>
          <p:cNvSpPr/>
          <p:nvPr/>
        </p:nvSpPr>
        <p:spPr>
          <a:xfrm>
            <a:off x="1392994" y="2031426"/>
            <a:ext cx="8567100" cy="2219700"/>
          </a:xfrm>
          <a:prstGeom prst="rect">
            <a:avLst/>
          </a:prstGeom>
          <a:noFill/>
          <a:ln>
            <a:noFill/>
          </a:ln>
        </p:spPr>
        <p:txBody>
          <a:bodyPr spcFirstLastPara="1" wrap="square" lIns="91425" tIns="45700" rIns="91425" bIns="45700" anchor="t" anchorCtr="0">
            <a:noAutofit/>
          </a:bodyPr>
          <a:lstStyle/>
          <a:p>
            <a:pPr lvl="0" algn="ctr">
              <a:buSzPts val="1800"/>
            </a:pPr>
            <a:r>
              <a:rPr lang="en-GB" sz="2800" b="1" noProof="0" dirty="0">
                <a:solidFill/>
                <a:latin typeface="Verdana" panose="020B0604030504040204" pitchFamily="34" charset="0"/>
                <a:ea typeface="Verdana" panose="020B0604030504040204" pitchFamily="34" charset="0"/>
                <a:sym typeface="Verdana"/>
              </a:rPr>
              <a:t>Master's Thesis Defense  ·  16 July 2026  ·  Universitat Pompeu Fabra</a:t>
            </a:r>
            <a:br>
              <a:rPr lang="en-GB" sz="2800" b="1" noProof="0" dirty="0">
                <a:latin typeface="Verdana" panose="020B0604030504040204" pitchFamily="34" charset="0"/>
                <a:ea typeface="Verdana" panose="020B0604030504040204" pitchFamily="34" charset="0"/>
                <a:sym typeface="Verdana"/>
              </a:rPr>
            </a:br>
            <a:endParaRPr lang="en-GB" sz="2800" b="1" noProof="0" dirty="0">
              <a:latin typeface="Verdana" panose="020B0604030504040204" pitchFamily="34" charset="0"/>
              <a:ea typeface="Verdana" panose="020B0604030504040204" pitchFamily="34" charset="0"/>
              <a:sym typeface="Calibri"/>
            </a:endParaRPr>
          </a:p>
        </p:txBody>
      </p:sp>
      <p:pic>
        <p:nvPicPr>
          <p:cNvPr id="6" name="Google Shape;103;g30095643530_0_15">
            <a:extLst>
              <a:ext uri="{FF2B5EF4-FFF2-40B4-BE49-F238E27FC236}">
                <a16:creationId xmlns:a16="http://schemas.microsoft.com/office/drawing/2014/main" id="{2B47A089-A7A6-4AD9-82F3-4A4A480F8DC9}"/>
              </a:ext>
            </a:extLst>
          </p:cNvPr>
          <p:cNvPicPr preferRelativeResize="0"/>
          <p:nvPr/>
        </p:nvPicPr>
        <p:blipFill rotWithShape="1">
          <a:blip r:embed="rId4">
            <a:alphaModFix/>
          </a:blip>
          <a:srcRect/>
          <a:stretch/>
        </p:blipFill>
        <p:spPr>
          <a:xfrm>
            <a:off x="67455" y="6327231"/>
            <a:ext cx="3020518" cy="459744"/>
          </a:xfrm>
          <a:prstGeom prst="rect">
            <a:avLst/>
          </a:prstGeom>
          <a:noFill/>
          <a:ln>
            <a:noFill/>
          </a:ln>
        </p:spPr>
      </p:pic>
      <p:pic>
        <p:nvPicPr>
          <p:cNvPr id="7" name="Google Shape;104;g30095643530_0_15">
            <a:extLst>
              <a:ext uri="{FF2B5EF4-FFF2-40B4-BE49-F238E27FC236}">
                <a16:creationId xmlns:a16="http://schemas.microsoft.com/office/drawing/2014/main" id="{7FB49208-725D-468F-ADC2-AE651BB6CBD1}"/>
              </a:ext>
            </a:extLst>
          </p:cNvPr>
          <p:cNvPicPr preferRelativeResize="0"/>
          <p:nvPr/>
        </p:nvPicPr>
        <p:blipFill rotWithShape="1">
          <a:blip r:embed="rId5">
            <a:alphaModFix/>
          </a:blip>
          <a:srcRect/>
          <a:stretch/>
        </p:blipFill>
        <p:spPr>
          <a:xfrm>
            <a:off x="10111336" y="6337725"/>
            <a:ext cx="2013209" cy="449250"/>
          </a:xfrm>
          <a:prstGeom prst="rect">
            <a:avLst/>
          </a:prstGeom>
          <a:noFill/>
          <a:ln>
            <a:noFill/>
          </a:ln>
        </p:spPr>
      </p:pic>
      <p:pic>
        <p:nvPicPr>
          <p:cNvPr id="3" name="Picture 2" descr="Marca UPF - Manual d'Identitat Visual de la Universitat Pompeu Fabra (UPF)">
            <a:extLst>
              <a:ext uri="{FF2B5EF4-FFF2-40B4-BE49-F238E27FC236}">
                <a16:creationId xmlns:a16="http://schemas.microsoft.com/office/drawing/2014/main" id="{F6C91D0E-7D03-008D-8C78-29020476013F}"/>
              </a:ext>
            </a:extLst>
          </p:cNvPr>
          <p:cNvPicPr>
            <a:picLocks noChangeAspect="1"/>
          </p:cNvPicPr>
          <p:nvPr/>
        </p:nvPicPr>
        <p:blipFill>
          <a:blip r:embed="rId6"/>
          <a:stretch>
            <a:fillRect/>
          </a:stretch>
        </p:blipFill>
        <p:spPr>
          <a:xfrm>
            <a:off x="6799436" y="0"/>
            <a:ext cx="4468766" cy="15472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Outline</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2000" b="1">
                <a:solidFill>
                  <a:srgbClr val="002E5D"/>
                </a:solidFill>
              </a:rPr>
              <a:t>•  </a:t>
            </a:r>
            <a:r>
              <a:rPr sz="2000" b="1">
                <a:solidFill>
                  <a:srgbClr val="C0392B"/>
                </a:solidFill>
              </a:rPr>
              <a:t>1. Motivation</a:t>
            </a:r>
            <a:r>
              <a:rPr sz="2000">
                <a:solidFill>
                  <a:srgbClr val="222222"/>
                </a:solidFill>
              </a:rPr>
              <a:t> — pancreas transplant rejection and why we need a non-invasive test</a:t>
            </a:r>
          </a:p>
          <a:p>
            <a:pPr>
              <a:spcBef>
                <a:spcPts val="0"/>
              </a:spcBef>
              <a:spcAft>
                <a:spcPts val="800"/>
              </a:spcAft>
            </a:pPr>
            <a:r>
              <a:rPr sz="2000" b="1">
                <a:solidFill>
                  <a:srgbClr val="002E5D"/>
                </a:solidFill>
              </a:rPr>
              <a:t>•  </a:t>
            </a:r>
            <a:r>
              <a:rPr sz="2000" b="1">
                <a:solidFill>
                  <a:srgbClr val="C0392B"/>
                </a:solidFill>
              </a:rPr>
              <a:t>2. Data &amp; Methods</a:t>
            </a:r>
            <a:r>
              <a:rPr sz="2000">
                <a:solidFill>
                  <a:srgbClr val="222222"/>
                </a:solidFill>
              </a:rPr>
              <a:t> — dataset, preprocessing, radiomics, statistics, machine learning</a:t>
            </a:r>
          </a:p>
          <a:p>
            <a:pPr>
              <a:spcBef>
                <a:spcPts val="0"/>
              </a:spcBef>
              <a:spcAft>
                <a:spcPts val="800"/>
              </a:spcAft>
            </a:pPr>
            <a:r>
              <a:rPr sz="2000" b="1">
                <a:solidFill>
                  <a:srgbClr val="002E5D"/>
                </a:solidFill>
              </a:rPr>
              <a:t>•  </a:t>
            </a:r>
            <a:r>
              <a:rPr sz="2000" b="1">
                <a:solidFill>
                  <a:srgbClr val="C0392B"/>
                </a:solidFill>
              </a:rPr>
              <a:t>3. Results</a:t>
            </a:r>
            <a:r>
              <a:rPr sz="2000">
                <a:solidFill>
                  <a:srgbClr val="222222"/>
                </a:solidFill>
              </a:rPr>
              <a:t> — radiomics vs. rejection, and a clinical-biomarker positive control</a:t>
            </a:r>
          </a:p>
          <a:p>
            <a:pPr>
              <a:spcBef>
                <a:spcPts val="0"/>
              </a:spcBef>
              <a:spcAft>
                <a:spcPts val="800"/>
              </a:spcAft>
            </a:pPr>
            <a:r>
              <a:rPr sz="2000" b="1">
                <a:solidFill>
                  <a:srgbClr val="002E5D"/>
                </a:solidFill>
              </a:rPr>
              <a:t>•  </a:t>
            </a:r>
            <a:r>
              <a:rPr sz="2000" b="1">
                <a:solidFill>
                  <a:srgbClr val="C0392B"/>
                </a:solidFill>
              </a:rPr>
              <a:t>4. Conclusions</a:t>
            </a:r>
            <a:r>
              <a:rPr sz="2000">
                <a:solidFill>
                  <a:srgbClr val="222222"/>
                </a:solidFill>
              </a:rPr>
              <a:t> — what the negative result means, limitations, and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Clinical Background: Pancreas Transplant Rejection</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Pancreas transplantation can restore normal blood-sugar control in </a:t>
            </a:r>
            <a:r>
              <a:rPr sz="1800" b="1">
                <a:solidFill>
                  <a:srgbClr val="C0392B"/>
                </a:solidFill>
              </a:rPr>
              <a:t>type 1 diabetes</a:t>
            </a:r>
          </a:p>
          <a:p>
            <a:pPr>
              <a:spcBef>
                <a:spcPts val="0"/>
              </a:spcBef>
              <a:spcAft>
                <a:spcPts val="800"/>
              </a:spcAft>
            </a:pPr>
            <a:r>
              <a:rPr sz="1800" b="1">
                <a:solidFill>
                  <a:srgbClr val="002E5D"/>
                </a:solidFill>
              </a:rPr>
              <a:t>•  </a:t>
            </a:r>
            <a:r>
              <a:rPr sz="1800" b="1">
                <a:solidFill>
                  <a:srgbClr val="C0392B"/>
                </a:solidFill>
              </a:rPr>
              <a:t>Graft rejection</a:t>
            </a:r>
            <a:r>
              <a:rPr sz="1800">
                <a:solidFill>
                  <a:srgbClr val="222222"/>
                </a:solidFill>
              </a:rPr>
              <a:t> is a common, serious complication that threatens the transplant</a:t>
            </a:r>
          </a:p>
          <a:p>
            <a:pPr>
              <a:spcBef>
                <a:spcPts val="0"/>
              </a:spcBef>
              <a:spcAft>
                <a:spcPts val="800"/>
              </a:spcAft>
            </a:pPr>
            <a:r>
              <a:rPr sz="1800" b="1">
                <a:solidFill>
                  <a:srgbClr val="002E5D"/>
                </a:solidFill>
              </a:rPr>
              <a:t>•  </a:t>
            </a:r>
            <a:r>
              <a:rPr sz="1800">
                <a:solidFill>
                  <a:srgbClr val="222222"/>
                </a:solidFill>
              </a:rPr>
              <a:t>Reference standard for diagnosis is </a:t>
            </a:r>
            <a:r>
              <a:rPr sz="1800" b="1">
                <a:solidFill>
                  <a:srgbClr val="C0392B"/>
                </a:solidFill>
              </a:rPr>
              <a:t>percutaneous biopsy</a:t>
            </a:r>
          </a:p>
          <a:p>
            <a:pPr lvl="1">
              <a:spcBef>
                <a:spcPts val="0"/>
              </a:spcBef>
              <a:spcAft>
                <a:spcPts val="800"/>
              </a:spcAft>
            </a:pPr>
            <a:r>
              <a:rPr sz="1600">
                <a:solidFill>
                  <a:srgbClr val="555555"/>
                </a:solidFill>
              </a:rPr>
              <a:t>–  invasive, carries risk of complications</a:t>
            </a:r>
          </a:p>
          <a:p>
            <a:pPr lvl="1">
              <a:spcBef>
                <a:spcPts val="0"/>
              </a:spcBef>
              <a:spcAft>
                <a:spcPts val="800"/>
              </a:spcAft>
            </a:pPr>
            <a:r>
              <a:rPr sz="1600">
                <a:solidFill>
                  <a:srgbClr val="555555"/>
                </a:solidFill>
              </a:rPr>
              <a:t>–  sampling error, delayed results, costly</a:t>
            </a:r>
          </a:p>
          <a:p>
            <a:pPr>
              <a:spcBef>
                <a:spcPts val="0"/>
              </a:spcBef>
              <a:spcAft>
                <a:spcPts val="800"/>
              </a:spcAft>
            </a:pPr>
            <a:r>
              <a:rPr sz="1800" b="1">
                <a:solidFill>
                  <a:srgbClr val="002E5D"/>
                </a:solidFill>
              </a:rPr>
              <a:t>•  </a:t>
            </a:r>
            <a:r>
              <a:rPr sz="1800">
                <a:solidFill>
                  <a:srgbClr val="222222"/>
                </a:solidFill>
              </a:rPr>
              <a:t>Not performed routinely — clinicians need a </a:t>
            </a:r>
            <a:r>
              <a:rPr sz="1800" b="1">
                <a:solidFill>
                  <a:srgbClr val="C0392B"/>
                </a:solidFill>
              </a:rPr>
              <a:t>non-invasive</a:t>
            </a:r>
            <a:r>
              <a:rPr sz="1800">
                <a:solidFill>
                  <a:srgbClr val="222222"/>
                </a:solidFill>
              </a:rPr>
              <a:t> alternative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The Opportunity: Non-invasive Ultrasound</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Ultrasound is </a:t>
            </a:r>
            <a:r>
              <a:rPr sz="1800" b="1">
                <a:solidFill>
                  <a:srgbClr val="C0392B"/>
                </a:solidFill>
              </a:rPr>
              <a:t>cheap, fast, bedside, and radiation-free</a:t>
            </a:r>
          </a:p>
          <a:p>
            <a:pPr>
              <a:spcBef>
                <a:spcPts val="0"/>
              </a:spcBef>
              <a:spcAft>
                <a:spcPts val="800"/>
              </a:spcAft>
            </a:pPr>
            <a:r>
              <a:rPr sz="1800" b="1">
                <a:solidFill>
                  <a:srgbClr val="002E5D"/>
                </a:solidFill>
              </a:rPr>
              <a:t>•  </a:t>
            </a:r>
            <a:r>
              <a:rPr sz="1800">
                <a:solidFill>
                  <a:srgbClr val="222222"/>
                </a:solidFill>
              </a:rPr>
              <a:t>Specialised US biomarkers already discriminate rejection (Bassaganyas et al., 2025):</a:t>
            </a:r>
          </a:p>
          <a:p>
            <a:pPr lvl="1">
              <a:spcBef>
                <a:spcPts val="0"/>
              </a:spcBef>
              <a:spcAft>
                <a:spcPts val="800"/>
              </a:spcAft>
            </a:pPr>
            <a:r>
              <a:rPr sz="1600">
                <a:solidFill>
                  <a:srgbClr val="555555"/>
                </a:solidFill>
              </a:rPr>
              <a:t>–  </a:t>
            </a:r>
            <a:r>
              <a:rPr sz="1600" b="1">
                <a:solidFill>
                  <a:srgbClr val="C0392B"/>
                </a:solidFill>
              </a:rPr>
              <a:t>ARFI elastography</a:t>
            </a:r>
            <a:r>
              <a:rPr sz="1600">
                <a:solidFill>
                  <a:srgbClr val="555555"/>
                </a:solidFill>
              </a:rPr>
              <a:t> — tissue stiffness</a:t>
            </a:r>
          </a:p>
          <a:p>
            <a:pPr lvl="1">
              <a:spcBef>
                <a:spcPts val="0"/>
              </a:spcBef>
              <a:spcAft>
                <a:spcPts val="800"/>
              </a:spcAft>
            </a:pPr>
            <a:r>
              <a:rPr sz="1600">
                <a:solidFill>
                  <a:srgbClr val="555555"/>
                </a:solidFill>
              </a:rPr>
              <a:t>–  </a:t>
            </a:r>
            <a:r>
              <a:rPr sz="1600" b="1">
                <a:solidFill>
                  <a:srgbClr val="C0392B"/>
                </a:solidFill>
              </a:rPr>
              <a:t>DCE-US</a:t>
            </a:r>
            <a:r>
              <a:rPr sz="1600">
                <a:solidFill>
                  <a:srgbClr val="555555"/>
                </a:solidFill>
              </a:rPr>
              <a:t> — contrast-enhanced perfusion</a:t>
            </a:r>
          </a:p>
          <a:p>
            <a:pPr>
              <a:spcBef>
                <a:spcPts val="0"/>
              </a:spcBef>
              <a:spcAft>
                <a:spcPts val="800"/>
              </a:spcAft>
            </a:pPr>
            <a:r>
              <a:rPr sz="1800" b="1">
                <a:solidFill>
                  <a:srgbClr val="002E5D"/>
                </a:solidFill>
              </a:rPr>
              <a:t>•  </a:t>
            </a:r>
            <a:r>
              <a:rPr sz="1800">
                <a:solidFill>
                  <a:srgbClr val="222222"/>
                </a:solidFill>
              </a:rPr>
              <a:t>But these need </a:t>
            </a:r>
            <a:r>
              <a:rPr sz="1800" b="1">
                <a:solidFill>
                  <a:srgbClr val="C0392B"/>
                </a:solidFill>
              </a:rPr>
              <a:t>special acquisition protocols and manual measurement</a:t>
            </a:r>
          </a:p>
          <a:p>
            <a:pPr>
              <a:spcBef>
                <a:spcPts val="0"/>
              </a:spcBef>
              <a:spcAft>
                <a:spcPts val="800"/>
              </a:spcAft>
            </a:pPr>
            <a:r>
              <a:rPr sz="1800" b="1">
                <a:solidFill>
                  <a:srgbClr val="002E5D"/>
                </a:solidFill>
              </a:rPr>
              <a:t>•  </a:t>
            </a:r>
            <a:r>
              <a:rPr sz="1800" b="1">
                <a:solidFill>
                  <a:srgbClr val="C0392B"/>
                </a:solidFill>
              </a:rPr>
              <a:t>Research gap:</a:t>
            </a:r>
            <a:r>
              <a:rPr sz="1800">
                <a:solidFill>
                  <a:srgbClr val="222222"/>
                </a:solidFill>
              </a:rPr>
              <a:t> can automated texture analysis of ordinary grayscale US do the same?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Research Question &amp; Objectives</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900" b="1">
                <a:solidFill>
                  <a:srgbClr val="002E5D"/>
                </a:solidFill>
              </a:rPr>
              <a:t>•  </a:t>
            </a:r>
            <a:r>
              <a:rPr sz="1900" b="1">
                <a:solidFill>
                  <a:srgbClr val="C0392B"/>
                </a:solidFill>
              </a:rPr>
              <a:t>Can radiomics texture features from grayscale ultrasound predict pancreas rejection?</a:t>
            </a:r>
          </a:p>
          <a:p>
            <a:pPr>
              <a:spcBef>
                <a:spcPts val="0"/>
              </a:spcBef>
              <a:spcAft>
                <a:spcPts val="800"/>
              </a:spcAft>
            </a:pPr>
            <a:r>
              <a:rPr sz="1900" b="1">
                <a:solidFill>
                  <a:srgbClr val="002E5D"/>
                </a:solidFill>
              </a:rPr>
              <a:t>•  </a:t>
            </a:r>
            <a:r>
              <a:rPr sz="1900">
                <a:solidFill>
                  <a:srgbClr val="222222"/>
                </a:solidFill>
              </a:rPr>
              <a:t>1. Extract standardised radiomics features from the graft region</a:t>
            </a:r>
          </a:p>
          <a:p>
            <a:pPr>
              <a:spcBef>
                <a:spcPts val="0"/>
              </a:spcBef>
              <a:spcAft>
                <a:spcPts val="800"/>
              </a:spcAft>
            </a:pPr>
            <a:r>
              <a:rPr sz="1900" b="1">
                <a:solidFill>
                  <a:srgbClr val="002E5D"/>
                </a:solidFill>
              </a:rPr>
              <a:t>•  </a:t>
            </a:r>
            <a:r>
              <a:rPr sz="1900">
                <a:solidFill>
                  <a:srgbClr val="222222"/>
                </a:solidFill>
              </a:rPr>
              <a:t>2. Test whether individual features discriminate rejection (statistics)</a:t>
            </a:r>
          </a:p>
          <a:p>
            <a:pPr>
              <a:spcBef>
                <a:spcPts val="0"/>
              </a:spcBef>
              <a:spcAft>
                <a:spcPts val="800"/>
              </a:spcAft>
            </a:pPr>
            <a:r>
              <a:rPr sz="1900" b="1">
                <a:solidFill>
                  <a:srgbClr val="002E5D"/>
                </a:solidFill>
              </a:rPr>
              <a:t>•  </a:t>
            </a:r>
            <a:r>
              <a:rPr sz="1900">
                <a:solidFill>
                  <a:srgbClr val="222222"/>
                </a:solidFill>
              </a:rPr>
              <a:t>3. Build and evaluate machine-learning classifiers</a:t>
            </a:r>
          </a:p>
          <a:p>
            <a:pPr>
              <a:spcBef>
                <a:spcPts val="0"/>
              </a:spcBef>
              <a:spcAft>
                <a:spcPts val="800"/>
              </a:spcAft>
            </a:pPr>
            <a:r>
              <a:rPr sz="1900" b="1">
                <a:solidFill>
                  <a:srgbClr val="002E5D"/>
                </a:solidFill>
              </a:rPr>
              <a:t>•  </a:t>
            </a:r>
            <a:r>
              <a:rPr sz="1900">
                <a:solidFill>
                  <a:srgbClr val="222222"/>
                </a:solidFill>
              </a:rPr>
              <a:t>4. Reproduce the clinical-biomarker analysis (ARFI / DCE-US) as a control</a:t>
            </a:r>
          </a:p>
          <a:p>
            <a:pPr>
              <a:spcBef>
                <a:spcPts val="0"/>
              </a:spcBef>
              <a:spcAft>
                <a:spcPts val="800"/>
              </a:spcAft>
            </a:pPr>
            <a:r>
              <a:rPr sz="1900" b="1">
                <a:solidFill>
                  <a:srgbClr val="002E5D"/>
                </a:solidFill>
              </a:rPr>
              <a:t>•  </a:t>
            </a:r>
            <a:r>
              <a:rPr sz="1900">
                <a:solidFill>
                  <a:srgbClr val="222222"/>
                </a:solidFill>
              </a:rPr>
              <a:t>5. Compare automated radiomics against manual clinical biomarkers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Dataset</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900" b="1">
                <a:solidFill>
                  <a:srgbClr val="002E5D"/>
                </a:solidFill>
              </a:rPr>
              <a:t>•  </a:t>
            </a:r>
            <a:r>
              <a:rPr sz="1900" b="1">
                <a:solidFill>
                  <a:srgbClr val="C0392B"/>
                </a:solidFill>
              </a:rPr>
              <a:t>137 ultrasound studies</a:t>
            </a:r>
            <a:r>
              <a:rPr sz="1900">
                <a:solidFill>
                  <a:srgbClr val="222222"/>
                </a:solidFill>
              </a:rPr>
              <a:t> from </a:t>
            </a:r>
            <a:r>
              <a:rPr sz="1900" b="1">
                <a:solidFill>
                  <a:srgbClr val="C0392B"/>
                </a:solidFill>
              </a:rPr>
              <a:t>55 patients</a:t>
            </a:r>
            <a:r>
              <a:rPr sz="1900">
                <a:solidFill>
                  <a:srgbClr val="222222"/>
                </a:solidFill>
              </a:rPr>
              <a:t> (Hospital Clinic Barcelona)</a:t>
            </a:r>
          </a:p>
          <a:p>
            <a:pPr>
              <a:spcBef>
                <a:spcPts val="0"/>
              </a:spcBef>
              <a:spcAft>
                <a:spcPts val="800"/>
              </a:spcAft>
            </a:pPr>
            <a:r>
              <a:rPr sz="1900" b="1">
                <a:solidFill>
                  <a:srgbClr val="002E5D"/>
                </a:solidFill>
              </a:rPr>
              <a:t>•  </a:t>
            </a:r>
            <a:r>
              <a:rPr sz="1900" b="1">
                <a:solidFill>
                  <a:srgbClr val="C0392B"/>
                </a:solidFill>
              </a:rPr>
              <a:t>39 studies</a:t>
            </a:r>
            <a:r>
              <a:rPr sz="1900">
                <a:solidFill>
                  <a:srgbClr val="222222"/>
                </a:solidFill>
              </a:rPr>
              <a:t> with clinically diagnosed rejection (</a:t>
            </a:r>
            <a:r>
              <a:rPr sz="1900" b="1">
                <a:solidFill>
                  <a:srgbClr val="C0392B"/>
                </a:solidFill>
              </a:rPr>
              <a:t>27 biopsy-confirmed</a:t>
            </a:r>
            <a:r>
              <a:rPr sz="1900">
                <a:solidFill>
                  <a:srgbClr val="222222"/>
                </a:solidFill>
              </a:rPr>
              <a:t>)</a:t>
            </a:r>
          </a:p>
          <a:p>
            <a:pPr>
              <a:spcBef>
                <a:spcPts val="0"/>
              </a:spcBef>
              <a:spcAft>
                <a:spcPts val="800"/>
              </a:spcAft>
            </a:pPr>
            <a:r>
              <a:rPr sz="1900" b="1">
                <a:solidFill>
                  <a:srgbClr val="002E5D"/>
                </a:solidFill>
              </a:rPr>
              <a:t>•  </a:t>
            </a:r>
            <a:r>
              <a:rPr sz="1900" b="1">
                <a:solidFill>
                  <a:srgbClr val="C0392B"/>
                </a:solidFill>
              </a:rPr>
              <a:t>98 studies</a:t>
            </a:r>
            <a:r>
              <a:rPr sz="1900">
                <a:solidFill>
                  <a:srgbClr val="222222"/>
                </a:solidFill>
              </a:rPr>
              <a:t> with no rejection  →  class balance ~ </a:t>
            </a:r>
            <a:r>
              <a:rPr sz="1900" b="1">
                <a:solidFill>
                  <a:srgbClr val="C0392B"/>
                </a:solidFill>
              </a:rPr>
              <a:t>72 : 28</a:t>
            </a:r>
          </a:p>
          <a:p>
            <a:pPr>
              <a:spcBef>
                <a:spcPts val="0"/>
              </a:spcBef>
              <a:spcAft>
                <a:spcPts val="800"/>
              </a:spcAft>
            </a:pPr>
            <a:r>
              <a:rPr sz="1900" b="1">
                <a:solidFill>
                  <a:srgbClr val="002E5D"/>
                </a:solidFill>
              </a:rPr>
              <a:t>•  </a:t>
            </a:r>
            <a:r>
              <a:rPr sz="1900">
                <a:solidFill>
                  <a:srgbClr val="222222"/>
                </a:solidFill>
              </a:rPr>
              <a:t>Many patients have </a:t>
            </a:r>
            <a:r>
              <a:rPr sz="1900" b="1">
                <a:solidFill>
                  <a:srgbClr val="C0392B"/>
                </a:solidFill>
              </a:rPr>
              <a:t>several studies over time</a:t>
            </a:r>
            <a:r>
              <a:rPr sz="1900">
                <a:solidFill>
                  <a:srgbClr val="222222"/>
                </a:solidFill>
              </a:rPr>
              <a:t> (repeated measures)</a:t>
            </a:r>
          </a:p>
          <a:p>
            <a:pPr lvl="1">
              <a:spcBef>
                <a:spcPts val="0"/>
              </a:spcBef>
              <a:spcAft>
                <a:spcPts val="800"/>
              </a:spcAft>
            </a:pPr>
            <a:r>
              <a:rPr sz="1700">
                <a:solidFill>
                  <a:srgbClr val="555555"/>
                </a:solidFill>
              </a:rPr>
              <a:t>–  Naively pooling all 137 would </a:t>
            </a:r>
            <a:r>
              <a:rPr sz="1700" b="1">
                <a:solidFill>
                  <a:srgbClr val="C0392B"/>
                </a:solidFill>
              </a:rPr>
              <a:t>violate independence</a:t>
            </a:r>
            <a:r>
              <a:rPr sz="1700">
                <a:solidFill>
                  <a:srgbClr val="555555"/>
                </a:solidFill>
              </a:rPr>
              <a:t> and inflate significance</a:t>
            </a:r>
          </a:p>
          <a:p>
            <a:pPr>
              <a:spcBef>
                <a:spcPts val="0"/>
              </a:spcBef>
              <a:spcAft>
                <a:spcPts val="800"/>
              </a:spcAft>
            </a:pPr>
            <a:r>
              <a:rPr sz="1900" b="1">
                <a:solidFill>
                  <a:srgbClr val="002E5D"/>
                </a:solidFill>
              </a:rPr>
              <a:t>•  </a:t>
            </a:r>
            <a:r>
              <a:rPr sz="1900" b="1">
                <a:solidFill>
                  <a:srgbClr val="C0392B"/>
                </a:solidFill>
              </a:rPr>
              <a:t>Primary analysis uses one study per patient</a:t>
            </a:r>
            <a:r>
              <a:rPr sz="1900">
                <a:solidFill>
                  <a:srgbClr val="222222"/>
                </a:solidFill>
              </a:rPr>
              <a:t> — an independent dataset of 55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Preprocessing: Isolating the Graft</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Start from clinician-annotated grayscale US (contour drawn around graft)</a:t>
            </a:r>
          </a:p>
          <a:p>
            <a:pPr>
              <a:spcBef>
                <a:spcPts val="0"/>
              </a:spcBef>
              <a:spcAft>
                <a:spcPts val="800"/>
              </a:spcAft>
            </a:pPr>
            <a:r>
              <a:rPr sz="1800" b="1">
                <a:solidFill>
                  <a:srgbClr val="002E5D"/>
                </a:solidFill>
              </a:rPr>
              <a:t>•  </a:t>
            </a:r>
            <a:r>
              <a:rPr sz="1800">
                <a:solidFill>
                  <a:srgbClr val="222222"/>
                </a:solidFill>
              </a:rPr>
              <a:t>Remove the annotation contour, then </a:t>
            </a:r>
            <a:r>
              <a:rPr sz="1800" b="1">
                <a:solidFill>
                  <a:srgbClr val="C0392B"/>
                </a:solidFill>
              </a:rPr>
              <a:t>erode the mask</a:t>
            </a:r>
            <a:r>
              <a:rPr sz="1800">
                <a:solidFill>
                  <a:srgbClr val="222222"/>
                </a:solidFill>
              </a:rPr>
              <a:t> (kernel 3, 1 iter)</a:t>
            </a:r>
          </a:p>
          <a:p>
            <a:pPr lvl="1">
              <a:spcBef>
                <a:spcPts val="0"/>
              </a:spcBef>
              <a:spcAft>
                <a:spcPts val="800"/>
              </a:spcAft>
            </a:pPr>
            <a:r>
              <a:rPr sz="1600">
                <a:solidFill>
                  <a:srgbClr val="555555"/>
                </a:solidFill>
              </a:rPr>
              <a:t>–  erosion pulls the ROI away from the bright boundary</a:t>
            </a:r>
          </a:p>
          <a:p>
            <a:pPr>
              <a:spcBef>
                <a:spcPts val="0"/>
              </a:spcBef>
              <a:spcAft>
                <a:spcPts val="800"/>
              </a:spcAft>
            </a:pPr>
            <a:r>
              <a:rPr sz="1800" b="1">
                <a:solidFill>
                  <a:srgbClr val="002E5D"/>
                </a:solidFill>
              </a:rPr>
              <a:t>•  </a:t>
            </a:r>
            <a:r>
              <a:rPr sz="1800">
                <a:solidFill>
                  <a:srgbClr val="222222"/>
                </a:solidFill>
              </a:rPr>
              <a:t>Result: a clean </a:t>
            </a:r>
            <a:r>
              <a:rPr sz="1800" b="1">
                <a:solidFill>
                  <a:srgbClr val="C0392B"/>
                </a:solidFill>
              </a:rPr>
              <a:t>graft-only region of interest</a:t>
            </a:r>
            <a:r>
              <a:rPr sz="1800">
                <a:solidFill>
                  <a:srgbClr val="222222"/>
                </a:solidFill>
              </a:rPr>
              <a:t> for feature extraction</a:t>
            </a:r>
          </a:p>
        </p:txBody>
      </p:sp>
      <p:pic>
        <p:nvPicPr>
          <p:cNvPr id="5" name="Picture 4" descr="preprocessing_pipeline.png"/>
          <p:cNvPicPr>
            <a:picLocks noChangeAspect="1"/>
          </p:cNvPicPr>
          <p:nvPr/>
        </p:nvPicPr>
        <p:blipFill>
          <a:blip r:embed="rId4"/>
          <a:stretch>
            <a:fillRect/>
          </a:stretch>
        </p:blipFill>
        <p:spPr>
          <a:xfrm>
            <a:off x="7172758" y="1783080"/>
            <a:ext cx="3759604" cy="4160520"/>
          </a:xfrm>
          <a:prstGeom prst="rect">
            <a:avLst/>
          </a:prstGeom>
        </p:spPr>
      </p:pic>
      <p:sp>
        <p:nvSpPr>
          <p:cNvPr id="6" name="TextBox 5"/>
          <p:cNvSpPr txBox="1"/>
          <p:nvPr/>
        </p:nvSpPr>
        <p:spPr>
          <a:xfrm>
            <a:off x="6309360" y="5971032"/>
            <a:ext cx="5486400" cy="292608"/>
          </a:xfrm>
          <a:prstGeom prst="rect">
            <a:avLst/>
          </a:prstGeom>
          <a:noFill/>
        </p:spPr>
        <p:txBody>
          <a:bodyPr wrap="square">
            <a:spAutoFit/>
          </a:bodyPr>
          <a:lstStyle/>
          <a:p>
            <a:pPr algn="ctr"/>
            <a:r>
              <a:rPr sz="1100" i="1">
                <a:solidFill>
                  <a:srgbClr val="555555"/>
                </a:solidFill>
              </a:rPr>
              <a:t>Preprocessing pipeline: annotation → contour removal → mask erosion → graft ROI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Radiomics Feature Extraction</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b="1">
                <a:solidFill>
                  <a:srgbClr val="C0392B"/>
                </a:solidFill>
              </a:rPr>
              <a:t>PyRadiomics</a:t>
            </a:r>
            <a:r>
              <a:rPr sz="1800">
                <a:solidFill>
                  <a:srgbClr val="222222"/>
                </a:solidFill>
              </a:rPr>
              <a:t> — IBSI-compliant, reproducible extraction</a:t>
            </a:r>
          </a:p>
          <a:p>
            <a:pPr>
              <a:spcBef>
                <a:spcPts val="0"/>
              </a:spcBef>
              <a:spcAft>
                <a:spcPts val="800"/>
              </a:spcAft>
            </a:pPr>
            <a:r>
              <a:rPr sz="1800" b="1">
                <a:solidFill>
                  <a:srgbClr val="002E5D"/>
                </a:solidFill>
              </a:rPr>
              <a:t>•  </a:t>
            </a:r>
            <a:r>
              <a:rPr sz="1800" b="1">
                <a:solidFill>
                  <a:srgbClr val="C0392B"/>
                </a:solidFill>
              </a:rPr>
              <a:t>93 features</a:t>
            </a:r>
            <a:r>
              <a:rPr sz="1800">
                <a:solidFill>
                  <a:srgbClr val="222222"/>
                </a:solidFill>
              </a:rPr>
              <a:t> across 6 families:</a:t>
            </a:r>
          </a:p>
          <a:p>
            <a:pPr lvl="1">
              <a:spcBef>
                <a:spcPts val="0"/>
              </a:spcBef>
              <a:spcAft>
                <a:spcPts val="800"/>
              </a:spcAft>
            </a:pPr>
            <a:r>
              <a:rPr sz="1600">
                <a:solidFill>
                  <a:srgbClr val="555555"/>
                </a:solidFill>
              </a:rPr>
              <a:t>–  First-order intensity; GLCM, GLRLM, GLSZM, GLDM, NGTDM (texture)</a:t>
            </a:r>
          </a:p>
          <a:p>
            <a:pPr>
              <a:spcBef>
                <a:spcPts val="0"/>
              </a:spcBef>
              <a:spcAft>
                <a:spcPts val="800"/>
              </a:spcAft>
            </a:pPr>
            <a:r>
              <a:rPr sz="1800" b="1">
                <a:solidFill>
                  <a:srgbClr val="002E5D"/>
                </a:solidFill>
              </a:rPr>
              <a:t>•  </a:t>
            </a:r>
            <a:r>
              <a:rPr sz="1800" b="1">
                <a:solidFill>
                  <a:srgbClr val="C0392B"/>
                </a:solidFill>
              </a:rPr>
              <a:t>Per-image z-score normalisation</a:t>
            </a:r>
            <a:r>
              <a:rPr sz="1800">
                <a:solidFill>
                  <a:srgbClr val="222222"/>
                </a:solidFill>
              </a:rPr>
              <a:t> to control for gain / depth differences</a:t>
            </a:r>
          </a:p>
          <a:p>
            <a:pPr>
              <a:spcBef>
                <a:spcPts val="0"/>
              </a:spcBef>
              <a:spcAft>
                <a:spcPts val="800"/>
              </a:spcAft>
            </a:pPr>
            <a:r>
              <a:rPr sz="1800" b="1">
                <a:solidFill>
                  <a:srgbClr val="002E5D"/>
                </a:solidFill>
              </a:rPr>
              <a:t>•  </a:t>
            </a:r>
            <a:r>
              <a:rPr sz="1800">
                <a:solidFill>
                  <a:srgbClr val="222222"/>
                </a:solidFill>
              </a:rPr>
              <a:t>Radiomics turns each graft image into a </a:t>
            </a:r>
            <a:r>
              <a:rPr sz="1800" b="1">
                <a:solidFill>
                  <a:srgbClr val="C0392B"/>
                </a:solidFill>
              </a:rPr>
              <a:t>93-number texture fingerprint</a:t>
            </a:r>
          </a:p>
        </p:txBody>
      </p:sp>
      <p:pic>
        <p:nvPicPr>
          <p:cNvPr id="5" name="Picture 4" descr="correlation_heatmap.png"/>
          <p:cNvPicPr>
            <a:picLocks noChangeAspect="1"/>
          </p:cNvPicPr>
          <p:nvPr/>
        </p:nvPicPr>
        <p:blipFill>
          <a:blip r:embed="rId4"/>
          <a:stretch>
            <a:fillRect/>
          </a:stretch>
        </p:blipFill>
        <p:spPr>
          <a:xfrm>
            <a:off x="6675120" y="1783080"/>
            <a:ext cx="4754880" cy="4160520"/>
          </a:xfrm>
          <a:prstGeom prst="rect">
            <a:avLst/>
          </a:prstGeom>
        </p:spPr>
      </p:pic>
      <p:sp>
        <p:nvSpPr>
          <p:cNvPr id="6" name="TextBox 5"/>
          <p:cNvSpPr txBox="1"/>
          <p:nvPr/>
        </p:nvSpPr>
        <p:spPr>
          <a:xfrm>
            <a:off x="6309360" y="5971032"/>
            <a:ext cx="5486400" cy="292608"/>
          </a:xfrm>
          <a:prstGeom prst="rect">
            <a:avLst/>
          </a:prstGeom>
          <a:noFill/>
        </p:spPr>
        <p:txBody>
          <a:bodyPr wrap="square">
            <a:spAutoFit/>
          </a:bodyPr>
          <a:lstStyle/>
          <a:p>
            <a:pPr algn="ctr"/>
            <a:r>
              <a:rPr sz="1100" i="1">
                <a:solidFill>
                  <a:srgbClr val="555555"/>
                </a:solidFill>
              </a:rPr>
              <a:t>Feature correlation structure (many features are redundant)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Statistical Methodology</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Compare each feature between </a:t>
            </a:r>
            <a:r>
              <a:rPr sz="1800" b="1">
                <a:solidFill>
                  <a:srgbClr val="C0392B"/>
                </a:solidFill>
              </a:rPr>
              <a:t>rejection vs. no-rejection</a:t>
            </a:r>
            <a:r>
              <a:rPr sz="1800">
                <a:solidFill>
                  <a:srgbClr val="222222"/>
                </a:solidFill>
              </a:rPr>
              <a:t> groups</a:t>
            </a:r>
          </a:p>
          <a:p>
            <a:pPr>
              <a:spcBef>
                <a:spcPts val="0"/>
              </a:spcBef>
              <a:spcAft>
                <a:spcPts val="800"/>
              </a:spcAft>
            </a:pPr>
            <a:r>
              <a:rPr sz="1800" b="1">
                <a:solidFill>
                  <a:srgbClr val="002E5D"/>
                </a:solidFill>
              </a:rPr>
              <a:t>•  </a:t>
            </a:r>
            <a:r>
              <a:rPr sz="1800" b="1">
                <a:solidFill>
                  <a:srgbClr val="C0392B"/>
                </a:solidFill>
              </a:rPr>
              <a:t>Shapiro-Wilk</a:t>
            </a:r>
            <a:r>
              <a:rPr sz="1800">
                <a:solidFill>
                  <a:srgbClr val="222222"/>
                </a:solidFill>
              </a:rPr>
              <a:t> normality test  →  choose the right test:</a:t>
            </a:r>
          </a:p>
          <a:p>
            <a:pPr lvl="1">
              <a:spcBef>
                <a:spcPts val="0"/>
              </a:spcBef>
              <a:spcAft>
                <a:spcPts val="800"/>
              </a:spcAft>
            </a:pPr>
            <a:r>
              <a:rPr sz="1600">
                <a:solidFill>
                  <a:srgbClr val="555555"/>
                </a:solidFill>
              </a:rPr>
              <a:t>–  </a:t>
            </a:r>
            <a:r>
              <a:rPr sz="1600" b="1">
                <a:solidFill>
                  <a:srgbClr val="C0392B"/>
                </a:solidFill>
              </a:rPr>
              <a:t>Welch's t-test</a:t>
            </a:r>
            <a:r>
              <a:rPr sz="1600">
                <a:solidFill>
                  <a:srgbClr val="555555"/>
                </a:solidFill>
              </a:rPr>
              <a:t> (normal) or </a:t>
            </a:r>
            <a:r>
              <a:rPr sz="1600" b="1">
                <a:solidFill>
                  <a:srgbClr val="C0392B"/>
                </a:solidFill>
              </a:rPr>
              <a:t>Mann-Whitney U</a:t>
            </a:r>
            <a:r>
              <a:rPr sz="1600">
                <a:solidFill>
                  <a:srgbClr val="555555"/>
                </a:solidFill>
              </a:rPr>
              <a:t> (non-normal)</a:t>
            </a:r>
          </a:p>
          <a:p>
            <a:pPr>
              <a:spcBef>
                <a:spcPts val="0"/>
              </a:spcBef>
              <a:spcAft>
                <a:spcPts val="800"/>
              </a:spcAft>
            </a:pPr>
            <a:r>
              <a:rPr sz="1800" b="1">
                <a:solidFill>
                  <a:srgbClr val="002E5D"/>
                </a:solidFill>
              </a:rPr>
              <a:t>•  </a:t>
            </a:r>
            <a:r>
              <a:rPr sz="1800" b="1">
                <a:solidFill>
                  <a:srgbClr val="C0392B"/>
                </a:solidFill>
              </a:rPr>
              <a:t>Benjamini-Hochberg FDR</a:t>
            </a:r>
            <a:r>
              <a:rPr sz="1800">
                <a:solidFill>
                  <a:srgbClr val="222222"/>
                </a:solidFill>
              </a:rPr>
              <a:t> correction for 93 simultaneous tests</a:t>
            </a:r>
          </a:p>
          <a:p>
            <a:pPr>
              <a:spcBef>
                <a:spcPts val="0"/>
              </a:spcBef>
              <a:spcAft>
                <a:spcPts val="800"/>
              </a:spcAft>
            </a:pPr>
            <a:r>
              <a:rPr sz="1800" b="1">
                <a:solidFill>
                  <a:srgbClr val="002E5D"/>
                </a:solidFill>
              </a:rPr>
              <a:t>•  </a:t>
            </a:r>
            <a:r>
              <a:rPr sz="1800">
                <a:solidFill>
                  <a:srgbClr val="222222"/>
                </a:solidFill>
              </a:rPr>
              <a:t>Report </a:t>
            </a:r>
            <a:r>
              <a:rPr sz="1800" b="1">
                <a:solidFill>
                  <a:srgbClr val="C0392B"/>
                </a:solidFill>
              </a:rPr>
              <a:t>effect sizes</a:t>
            </a:r>
            <a:r>
              <a:rPr sz="1800">
                <a:solidFill>
                  <a:srgbClr val="222222"/>
                </a:solidFill>
              </a:rPr>
              <a:t> (rank-biserial / Cohen's d), not just p-values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Machine-Learning Methodology</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900" b="1">
                <a:solidFill>
                  <a:srgbClr val="002E5D"/>
                </a:solidFill>
              </a:rPr>
              <a:t>•  </a:t>
            </a:r>
            <a:r>
              <a:rPr sz="1900">
                <a:solidFill>
                  <a:srgbClr val="222222"/>
                </a:solidFill>
              </a:rPr>
              <a:t>Correlation filter (|r| &gt; 0.9) reduces </a:t>
            </a:r>
            <a:r>
              <a:rPr sz="1900" b="1">
                <a:solidFill>
                  <a:srgbClr val="C0392B"/>
                </a:solidFill>
              </a:rPr>
              <a:t>93 → 27</a:t>
            </a:r>
            <a:r>
              <a:rPr sz="1900">
                <a:solidFill>
                  <a:srgbClr val="222222"/>
                </a:solidFill>
              </a:rPr>
              <a:t> features</a:t>
            </a:r>
          </a:p>
          <a:p>
            <a:pPr>
              <a:spcBef>
                <a:spcPts val="0"/>
              </a:spcBef>
              <a:spcAft>
                <a:spcPts val="800"/>
              </a:spcAft>
            </a:pPr>
            <a:r>
              <a:rPr sz="1900" b="1">
                <a:solidFill>
                  <a:srgbClr val="002E5D"/>
                </a:solidFill>
              </a:rPr>
              <a:t>•  </a:t>
            </a:r>
            <a:r>
              <a:rPr sz="1900">
                <a:solidFill>
                  <a:srgbClr val="222222"/>
                </a:solidFill>
              </a:rPr>
              <a:t>Pipeline: </a:t>
            </a:r>
            <a:r>
              <a:rPr sz="1900" b="1">
                <a:solidFill>
                  <a:srgbClr val="C0392B"/>
                </a:solidFill>
              </a:rPr>
              <a:t>StandardScaler → SelectKBest (ANOVA-F) → classifier</a:t>
            </a:r>
          </a:p>
          <a:p>
            <a:pPr>
              <a:spcBef>
                <a:spcPts val="0"/>
              </a:spcBef>
              <a:spcAft>
                <a:spcPts val="800"/>
              </a:spcAft>
            </a:pPr>
            <a:r>
              <a:rPr sz="1900" b="1">
                <a:solidFill>
                  <a:srgbClr val="002E5D"/>
                </a:solidFill>
              </a:rPr>
              <a:t>•  </a:t>
            </a:r>
            <a:r>
              <a:rPr sz="1900">
                <a:solidFill>
                  <a:srgbClr val="222222"/>
                </a:solidFill>
              </a:rPr>
              <a:t>Four models: </a:t>
            </a:r>
            <a:r>
              <a:rPr sz="1900" b="1">
                <a:solidFill>
                  <a:srgbClr val="C0392B"/>
                </a:solidFill>
              </a:rPr>
              <a:t>Logistic Regression, Random Forest, SVM, Naive Bayes</a:t>
            </a:r>
          </a:p>
          <a:p>
            <a:pPr>
              <a:spcBef>
                <a:spcPts val="0"/>
              </a:spcBef>
              <a:spcAft>
                <a:spcPts val="800"/>
              </a:spcAft>
            </a:pPr>
            <a:r>
              <a:rPr sz="1900" b="1">
                <a:solidFill>
                  <a:srgbClr val="002E5D"/>
                </a:solidFill>
              </a:rPr>
              <a:t>•  </a:t>
            </a:r>
            <a:r>
              <a:rPr sz="1900">
                <a:solidFill>
                  <a:srgbClr val="222222"/>
                </a:solidFill>
              </a:rPr>
              <a:t>Joint hyper-parameter + feature-count tuning via </a:t>
            </a:r>
            <a:r>
              <a:rPr sz="1900" b="1">
                <a:solidFill>
                  <a:srgbClr val="C0392B"/>
                </a:solidFill>
              </a:rPr>
              <a:t>GridSearchCV</a:t>
            </a:r>
          </a:p>
          <a:p>
            <a:pPr>
              <a:spcBef>
                <a:spcPts val="0"/>
              </a:spcBef>
              <a:spcAft>
                <a:spcPts val="800"/>
              </a:spcAft>
            </a:pPr>
            <a:r>
              <a:rPr sz="1900" b="1">
                <a:solidFill>
                  <a:srgbClr val="002E5D"/>
                </a:solidFill>
              </a:rPr>
              <a:t>•  </a:t>
            </a:r>
            <a:r>
              <a:rPr sz="1900">
                <a:solidFill>
                  <a:srgbClr val="222222"/>
                </a:solidFill>
              </a:rPr>
              <a:t>Evaluated with </a:t>
            </a:r>
            <a:r>
              <a:rPr sz="1900" b="1">
                <a:solidFill>
                  <a:srgbClr val="C0392B"/>
                </a:solidFill>
              </a:rPr>
              <a:t>stratified k-fold + LOOCV</a:t>
            </a:r>
            <a:r>
              <a:rPr sz="1900">
                <a:solidFill>
                  <a:srgbClr val="222222"/>
                </a:solidFill>
              </a:rPr>
              <a:t>; </a:t>
            </a:r>
            <a:r>
              <a:rPr sz="1900" b="1">
                <a:solidFill>
                  <a:srgbClr val="C0392B"/>
                </a:solidFill>
              </a:rPr>
              <a:t>bootstrap 95% CIs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Result 1 — No Radiomics Feature Discriminates Rejection</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1874519"/>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b="1">
                <a:solidFill>
                  <a:srgbClr val="C0392B"/>
                </a:solidFill>
              </a:rPr>
              <a:t>0 of 93 features</a:t>
            </a:r>
            <a:r>
              <a:rPr sz="1800">
                <a:solidFill>
                  <a:srgbClr val="222222"/>
                </a:solidFill>
              </a:rPr>
              <a:t> significant after FDR correction</a:t>
            </a:r>
          </a:p>
          <a:p>
            <a:pPr>
              <a:spcBef>
                <a:spcPts val="0"/>
              </a:spcBef>
              <a:spcAft>
                <a:spcPts val="800"/>
              </a:spcAft>
            </a:pPr>
            <a:r>
              <a:rPr sz="1800" b="1">
                <a:solidFill>
                  <a:srgbClr val="002E5D"/>
                </a:solidFill>
              </a:rPr>
              <a:t>•  </a:t>
            </a:r>
            <a:r>
              <a:rPr sz="1800">
                <a:solidFill>
                  <a:srgbClr val="222222"/>
                </a:solidFill>
              </a:rPr>
              <a:t>A few raw p-values dip below 0.05, but </a:t>
            </a:r>
            <a:r>
              <a:rPr sz="1800" b="1">
                <a:solidFill>
                  <a:srgbClr val="C0392B"/>
                </a:solidFill>
              </a:rPr>
              <a:t>none survive</a:t>
            </a:r>
            <a:r>
              <a:rPr sz="1800">
                <a:solidFill>
                  <a:srgbClr val="222222"/>
                </a:solidFill>
              </a:rPr>
              <a:t> correction; small effect sizes</a:t>
            </a:r>
          </a:p>
          <a:p>
            <a:pPr>
              <a:spcBef>
                <a:spcPts val="0"/>
              </a:spcBef>
              <a:spcAft>
                <a:spcPts val="800"/>
              </a:spcAft>
            </a:pPr>
            <a:r>
              <a:rPr sz="1800" b="1">
                <a:solidFill>
                  <a:srgbClr val="002E5D"/>
                </a:solidFill>
              </a:rPr>
              <a:t>•  </a:t>
            </a:r>
            <a:r>
              <a:rPr sz="1800">
                <a:solidFill>
                  <a:srgbClr val="222222"/>
                </a:solidFill>
              </a:rPr>
              <a:t>Distributions </a:t>
            </a:r>
            <a:r>
              <a:rPr sz="1800" b="1">
                <a:solidFill>
                  <a:srgbClr val="C0392B"/>
                </a:solidFill>
              </a:rPr>
              <a:t>overlap heavily</a:t>
            </a:r>
            <a:r>
              <a:rPr sz="1800">
                <a:solidFill>
                  <a:srgbClr val="222222"/>
                </a:solidFill>
              </a:rPr>
              <a:t> — holds on both independent (55) and full (137) datasets</a:t>
            </a:r>
          </a:p>
        </p:txBody>
      </p:sp>
      <p:pic>
        <p:nvPicPr>
          <p:cNvPr id="5" name="Picture 4" descr="boxplots_radiomics_top5.png"/>
          <p:cNvPicPr>
            <a:picLocks noChangeAspect="1"/>
          </p:cNvPicPr>
          <p:nvPr/>
        </p:nvPicPr>
        <p:blipFill>
          <a:blip r:embed="rId4"/>
          <a:stretch>
            <a:fillRect/>
          </a:stretch>
        </p:blipFill>
        <p:spPr>
          <a:xfrm>
            <a:off x="1307870" y="3703320"/>
            <a:ext cx="9545780" cy="2377440"/>
          </a:xfrm>
          <a:prstGeom prst="rect">
            <a:avLst/>
          </a:prstGeom>
        </p:spPr>
      </p:pic>
      <p:sp>
        <p:nvSpPr>
          <p:cNvPr id="6" name="TextBox 5"/>
          <p:cNvSpPr txBox="1"/>
          <p:nvPr/>
        </p:nvSpPr>
        <p:spPr>
          <a:xfrm>
            <a:off x="822960" y="6108192"/>
            <a:ext cx="10515600" cy="292608"/>
          </a:xfrm>
          <a:prstGeom prst="rect">
            <a:avLst/>
          </a:prstGeom>
          <a:noFill/>
        </p:spPr>
        <p:txBody>
          <a:bodyPr wrap="square">
            <a:spAutoFit/>
          </a:bodyPr>
          <a:lstStyle/>
          <a:p>
            <a:pPr algn="ctr"/>
            <a:r>
              <a:rPr sz="1100" i="1">
                <a:solidFill>
                  <a:srgbClr val="555555"/>
                </a:solidFill>
              </a:rPr>
              <a:t>Top features: rejection vs. no-rejection distributions overlap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Result 2 — Classifiers Perform at Chance</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Best model (Logistic Regression): </a:t>
            </a:r>
            <a:r>
              <a:rPr sz="1800" b="1">
                <a:solidFill>
                  <a:srgbClr val="C0392B"/>
                </a:solidFill>
              </a:rPr>
              <a:t>AUC 0.636, 95% CI [0.48, 0.78]</a:t>
            </a:r>
          </a:p>
          <a:p>
            <a:pPr>
              <a:spcBef>
                <a:spcPts val="0"/>
              </a:spcBef>
              <a:spcAft>
                <a:spcPts val="800"/>
              </a:spcAft>
            </a:pPr>
            <a:r>
              <a:rPr sz="1800" b="1">
                <a:solidFill>
                  <a:srgbClr val="002E5D"/>
                </a:solidFill>
              </a:rPr>
              <a:t>•  </a:t>
            </a:r>
            <a:r>
              <a:rPr sz="1800">
                <a:solidFill>
                  <a:srgbClr val="222222"/>
                </a:solidFill>
              </a:rPr>
              <a:t>The confidence interval </a:t>
            </a:r>
            <a:r>
              <a:rPr sz="1800" b="1">
                <a:solidFill>
                  <a:srgbClr val="C0392B"/>
                </a:solidFill>
              </a:rPr>
              <a:t>crosses 0.5</a:t>
            </a:r>
            <a:r>
              <a:rPr sz="1800">
                <a:solidFill>
                  <a:srgbClr val="222222"/>
                </a:solidFill>
              </a:rPr>
              <a:t> — indistinguishable from chance</a:t>
            </a:r>
          </a:p>
          <a:p>
            <a:pPr>
              <a:spcBef>
                <a:spcPts val="0"/>
              </a:spcBef>
              <a:spcAft>
                <a:spcPts val="800"/>
              </a:spcAft>
            </a:pPr>
            <a:r>
              <a:rPr sz="1800" b="1">
                <a:solidFill>
                  <a:srgbClr val="002E5D"/>
                </a:solidFill>
              </a:rPr>
              <a:t>•  </a:t>
            </a:r>
            <a:r>
              <a:rPr sz="1800">
                <a:solidFill>
                  <a:srgbClr val="222222"/>
                </a:solidFill>
              </a:rPr>
              <a:t>Other models similar or worse (RF 0.59, NB 0.62, SVM 0.41)</a:t>
            </a:r>
          </a:p>
          <a:p>
            <a:pPr>
              <a:spcBef>
                <a:spcPts val="0"/>
              </a:spcBef>
              <a:spcAft>
                <a:spcPts val="800"/>
              </a:spcAft>
            </a:pPr>
            <a:r>
              <a:rPr sz="1800" b="1">
                <a:solidFill>
                  <a:srgbClr val="002E5D"/>
                </a:solidFill>
              </a:rPr>
              <a:t>•  </a:t>
            </a:r>
            <a:r>
              <a:rPr sz="1800">
                <a:solidFill>
                  <a:srgbClr val="222222"/>
                </a:solidFill>
              </a:rPr>
              <a:t>No multivariate combination of features recovers a signal</a:t>
            </a:r>
          </a:p>
        </p:txBody>
      </p:sp>
      <p:pic>
        <p:nvPicPr>
          <p:cNvPr id="5" name="Picture 4" descr="roc_independent_dataset.png"/>
          <p:cNvPicPr>
            <a:picLocks noChangeAspect="1"/>
          </p:cNvPicPr>
          <p:nvPr/>
        </p:nvPicPr>
        <p:blipFill>
          <a:blip r:embed="rId4"/>
          <a:stretch>
            <a:fillRect/>
          </a:stretch>
        </p:blipFill>
        <p:spPr>
          <a:xfrm>
            <a:off x="6309360" y="2695769"/>
            <a:ext cx="5486400" cy="2335142"/>
          </a:xfrm>
          <a:prstGeom prst="rect">
            <a:avLst/>
          </a:prstGeom>
        </p:spPr>
      </p:pic>
      <p:sp>
        <p:nvSpPr>
          <p:cNvPr id="6" name="TextBox 5"/>
          <p:cNvSpPr txBox="1"/>
          <p:nvPr/>
        </p:nvSpPr>
        <p:spPr>
          <a:xfrm>
            <a:off x="6309360" y="5058343"/>
            <a:ext cx="5486400" cy="292608"/>
          </a:xfrm>
          <a:prstGeom prst="rect">
            <a:avLst/>
          </a:prstGeom>
          <a:noFill/>
        </p:spPr>
        <p:txBody>
          <a:bodyPr wrap="square">
            <a:spAutoFit/>
          </a:bodyPr>
          <a:lstStyle/>
          <a:p>
            <a:pPr algn="ctr"/>
            <a:r>
              <a:rPr sz="1100" i="1">
                <a:solidFill>
                  <a:srgbClr val="555555"/>
                </a:solidFill>
              </a:rPr>
              <a:t>ROC — independent dataset; curves hug the diagonal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Result 3 — Positive Control: The Pipeline Works</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1874519"/>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Same statistical pipeline applied to the </a:t>
            </a:r>
            <a:r>
              <a:rPr sz="1800" b="1">
                <a:solidFill>
                  <a:srgbClr val="C0392B"/>
                </a:solidFill>
              </a:rPr>
              <a:t>clinical biomarkers</a:t>
            </a:r>
          </a:p>
          <a:p>
            <a:pPr>
              <a:spcBef>
                <a:spcPts val="0"/>
              </a:spcBef>
              <a:spcAft>
                <a:spcPts val="800"/>
              </a:spcAft>
            </a:pPr>
            <a:r>
              <a:rPr sz="1800" b="1">
                <a:solidFill>
                  <a:srgbClr val="002E5D"/>
                </a:solidFill>
              </a:rPr>
              <a:t>•  </a:t>
            </a:r>
            <a:r>
              <a:rPr sz="1800" b="1">
                <a:solidFill>
                  <a:srgbClr val="C0392B"/>
                </a:solidFill>
              </a:rPr>
              <a:t>ARFI elastography discriminates rejection</a:t>
            </a:r>
            <a:r>
              <a:rPr sz="1800">
                <a:solidFill>
                  <a:srgbClr val="222222"/>
                </a:solidFill>
              </a:rPr>
              <a:t> (late period): </a:t>
            </a:r>
            <a:r>
              <a:rPr sz="1800" b="1">
                <a:solidFill>
                  <a:srgbClr val="C0392B"/>
                </a:solidFill>
              </a:rPr>
              <a:t>p &lt; 0.001, r = 0.72</a:t>
            </a:r>
          </a:p>
          <a:p>
            <a:pPr>
              <a:spcBef>
                <a:spcPts val="0"/>
              </a:spcBef>
              <a:spcAft>
                <a:spcPts val="800"/>
              </a:spcAft>
            </a:pPr>
            <a:r>
              <a:rPr sz="1800" b="1">
                <a:solidFill>
                  <a:srgbClr val="002E5D"/>
                </a:solidFill>
              </a:rPr>
              <a:t>•  </a:t>
            </a:r>
            <a:r>
              <a:rPr sz="1800">
                <a:solidFill>
                  <a:srgbClr val="222222"/>
                </a:solidFill>
              </a:rPr>
              <a:t>Matches Bassaganyas et al. (2025) </a:t>
            </a:r>
            <a:r>
              <a:rPr sz="1800" b="1">
                <a:solidFill>
                  <a:srgbClr val="C0392B"/>
                </a:solidFill>
              </a:rPr>
              <a:t>to three decimal places</a:t>
            </a:r>
          </a:p>
          <a:p>
            <a:pPr>
              <a:spcBef>
                <a:spcPts val="0"/>
              </a:spcBef>
              <a:spcAft>
                <a:spcPts val="800"/>
              </a:spcAft>
            </a:pPr>
            <a:r>
              <a:rPr sz="1800" b="1">
                <a:solidFill>
                  <a:srgbClr val="002E5D"/>
                </a:solidFill>
              </a:rPr>
              <a:t>•  </a:t>
            </a:r>
            <a:r>
              <a:rPr sz="1800">
                <a:solidFill>
                  <a:srgbClr val="222222"/>
                </a:solidFill>
              </a:rPr>
              <a:t>→ The radiomics null is </a:t>
            </a:r>
            <a:r>
              <a:rPr sz="1800" b="1">
                <a:solidFill>
                  <a:srgbClr val="C0392B"/>
                </a:solidFill>
              </a:rPr>
              <a:t>real</a:t>
            </a:r>
            <a:r>
              <a:rPr sz="1800">
                <a:solidFill>
                  <a:srgbClr val="222222"/>
                </a:solidFill>
              </a:rPr>
              <a:t>, not a broken pipeline</a:t>
            </a:r>
          </a:p>
        </p:txBody>
      </p:sp>
      <p:pic>
        <p:nvPicPr>
          <p:cNvPr id="5" name="Picture 4" descr="14b_boxplots_arfi.png"/>
          <p:cNvPicPr>
            <a:picLocks noChangeAspect="1"/>
          </p:cNvPicPr>
          <p:nvPr/>
        </p:nvPicPr>
        <p:blipFill>
          <a:blip r:embed="rId4"/>
          <a:stretch>
            <a:fillRect/>
          </a:stretch>
        </p:blipFill>
        <p:spPr>
          <a:xfrm>
            <a:off x="822960" y="3845764"/>
            <a:ext cx="10515600" cy="2092552"/>
          </a:xfrm>
          <a:prstGeom prst="rect">
            <a:avLst/>
          </a:prstGeom>
        </p:spPr>
      </p:pic>
      <p:sp>
        <p:nvSpPr>
          <p:cNvPr id="6" name="TextBox 5"/>
          <p:cNvSpPr txBox="1"/>
          <p:nvPr/>
        </p:nvSpPr>
        <p:spPr>
          <a:xfrm>
            <a:off x="822960" y="5965748"/>
            <a:ext cx="10515600" cy="292608"/>
          </a:xfrm>
          <a:prstGeom prst="rect">
            <a:avLst/>
          </a:prstGeom>
          <a:noFill/>
        </p:spPr>
        <p:txBody>
          <a:bodyPr wrap="square">
            <a:spAutoFit/>
          </a:bodyPr>
          <a:lstStyle/>
          <a:p>
            <a:pPr algn="ctr"/>
            <a:r>
              <a:rPr sz="1100" i="1">
                <a:solidFill>
                  <a:srgbClr val="555555"/>
                </a:solidFill>
              </a:rPr>
              <a:t>ARFI stiffness: clear separation between groups (positive control)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Why ARFI Works but Radiomics Doesn't</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1874519"/>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b="1">
                <a:solidFill>
                  <a:srgbClr val="C0392B"/>
                </a:solidFill>
              </a:rPr>
              <a:t>Paired within-patient</a:t>
            </a:r>
            <a:r>
              <a:rPr sz="1800">
                <a:solidFill>
                  <a:srgbClr val="222222"/>
                </a:solidFill>
              </a:rPr>
              <a:t> test: each patient's own rejection vs. non-rejection scans</a:t>
            </a:r>
          </a:p>
          <a:p>
            <a:pPr>
              <a:spcBef>
                <a:spcPts val="0"/>
              </a:spcBef>
              <a:spcAft>
                <a:spcPts val="800"/>
              </a:spcAft>
            </a:pPr>
            <a:r>
              <a:rPr sz="1800" b="1">
                <a:solidFill>
                  <a:srgbClr val="002E5D"/>
                </a:solidFill>
              </a:rPr>
              <a:t>•  </a:t>
            </a:r>
            <a:r>
              <a:rPr sz="1800">
                <a:solidFill>
                  <a:srgbClr val="222222"/>
                </a:solidFill>
              </a:rPr>
              <a:t>Paired ARFI change: </a:t>
            </a:r>
            <a:r>
              <a:rPr sz="1800" b="1">
                <a:solidFill>
                  <a:srgbClr val="C0392B"/>
                </a:solidFill>
              </a:rPr>
              <a:t>p = 0.86</a:t>
            </a:r>
            <a:r>
              <a:rPr sz="1800">
                <a:solidFill>
                  <a:srgbClr val="222222"/>
                </a:solidFill>
              </a:rPr>
              <a:t> — no within-patient shift</a:t>
            </a:r>
          </a:p>
          <a:p>
            <a:pPr>
              <a:spcBef>
                <a:spcPts val="0"/>
              </a:spcBef>
              <a:spcAft>
                <a:spcPts val="800"/>
              </a:spcAft>
            </a:pPr>
            <a:r>
              <a:rPr sz="1800" b="1">
                <a:solidFill>
                  <a:srgbClr val="002E5D"/>
                </a:solidFill>
              </a:rPr>
              <a:t>•  </a:t>
            </a:r>
            <a:r>
              <a:rPr sz="1800">
                <a:solidFill>
                  <a:srgbClr val="222222"/>
                </a:solidFill>
              </a:rPr>
              <a:t>So ARFI reflects </a:t>
            </a:r>
            <a:r>
              <a:rPr sz="1800" b="1">
                <a:solidFill>
                  <a:srgbClr val="C0392B"/>
                </a:solidFill>
              </a:rPr>
              <a:t>between-patient, late-period baseline stiffness</a:t>
            </a:r>
          </a:p>
          <a:p>
            <a:pPr>
              <a:spcBef>
                <a:spcPts val="0"/>
              </a:spcBef>
              <a:spcAft>
                <a:spcPts val="800"/>
              </a:spcAft>
            </a:pPr>
            <a:r>
              <a:rPr sz="1800" b="1">
                <a:solidFill>
                  <a:srgbClr val="002E5D"/>
                </a:solidFill>
              </a:rPr>
              <a:t>•  </a:t>
            </a:r>
            <a:r>
              <a:rPr sz="1800">
                <a:solidFill>
                  <a:srgbClr val="222222"/>
                </a:solidFill>
              </a:rPr>
              <a:t>A chronic difference — not a transient rejection change grayscale could catch</a:t>
            </a:r>
          </a:p>
        </p:txBody>
      </p:sp>
      <p:pic>
        <p:nvPicPr>
          <p:cNvPr id="5" name="Picture 4" descr="21_boxplots_paired_differences_normalised.png"/>
          <p:cNvPicPr>
            <a:picLocks noChangeAspect="1"/>
          </p:cNvPicPr>
          <p:nvPr/>
        </p:nvPicPr>
        <p:blipFill>
          <a:blip r:embed="rId4"/>
          <a:stretch>
            <a:fillRect/>
          </a:stretch>
        </p:blipFill>
        <p:spPr>
          <a:xfrm>
            <a:off x="822960" y="3895825"/>
            <a:ext cx="10515600" cy="1992429"/>
          </a:xfrm>
          <a:prstGeom prst="rect">
            <a:avLst/>
          </a:prstGeom>
        </p:spPr>
      </p:pic>
      <p:sp>
        <p:nvSpPr>
          <p:cNvPr id="6" name="TextBox 5"/>
          <p:cNvSpPr txBox="1"/>
          <p:nvPr/>
        </p:nvSpPr>
        <p:spPr>
          <a:xfrm>
            <a:off x="822960" y="5915686"/>
            <a:ext cx="10515600" cy="292608"/>
          </a:xfrm>
          <a:prstGeom prst="rect">
            <a:avLst/>
          </a:prstGeom>
          <a:noFill/>
        </p:spPr>
        <p:txBody>
          <a:bodyPr wrap="square">
            <a:spAutoFit/>
          </a:bodyPr>
          <a:lstStyle/>
          <a:p>
            <a:pPr algn="ctr"/>
            <a:r>
              <a:rPr sz="1100" i="1">
                <a:solidFill>
                  <a:srgbClr val="555555"/>
                </a:solidFill>
              </a:rPr>
              <a:t>Within-patient paired differences centre on zero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Robustness — The Null Holds Every Way I Tested It</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b="1">
                <a:solidFill>
                  <a:srgbClr val="C0392B"/>
                </a:solidFill>
              </a:rPr>
              <a:t>Paired within-patient</a:t>
            </a:r>
            <a:r>
              <a:rPr sz="1800">
                <a:solidFill>
                  <a:srgbClr val="222222"/>
                </a:solidFill>
              </a:rPr>
              <a:t> radiomics analysis — no signal</a:t>
            </a:r>
          </a:p>
          <a:p>
            <a:pPr>
              <a:spcBef>
                <a:spcPts val="0"/>
              </a:spcBef>
              <a:spcAft>
                <a:spcPts val="800"/>
              </a:spcAft>
            </a:pPr>
            <a:r>
              <a:rPr sz="1800" b="1">
                <a:solidFill>
                  <a:srgbClr val="002E5D"/>
                </a:solidFill>
              </a:rPr>
              <a:t>•  </a:t>
            </a:r>
            <a:r>
              <a:rPr sz="1800" b="1">
                <a:solidFill>
                  <a:srgbClr val="C0392B"/>
                </a:solidFill>
              </a:rPr>
              <a:t>Alternative texture families</a:t>
            </a:r>
            <a:r>
              <a:rPr sz="1800">
                <a:solidFill>
                  <a:srgbClr val="222222"/>
                </a:solidFill>
              </a:rPr>
              <a:t> (LBP, Gabor, Laws') — </a:t>
            </a:r>
            <a:r>
              <a:rPr sz="1800" b="1">
                <a:solidFill>
                  <a:srgbClr val="C0392B"/>
                </a:solidFill>
              </a:rPr>
              <a:t>153 features</a:t>
            </a:r>
            <a:r>
              <a:rPr sz="1800">
                <a:solidFill>
                  <a:srgbClr val="222222"/>
                </a:solidFill>
              </a:rPr>
              <a:t> total — no signal</a:t>
            </a:r>
          </a:p>
          <a:p>
            <a:pPr>
              <a:spcBef>
                <a:spcPts val="0"/>
              </a:spcBef>
              <a:spcAft>
                <a:spcPts val="800"/>
              </a:spcAft>
            </a:pPr>
            <a:r>
              <a:rPr sz="1800" b="1">
                <a:solidFill>
                  <a:srgbClr val="002E5D"/>
                </a:solidFill>
              </a:rPr>
              <a:t>•  </a:t>
            </a:r>
            <a:r>
              <a:rPr sz="1800" b="1">
                <a:solidFill>
                  <a:srgbClr val="C0392B"/>
                </a:solidFill>
              </a:rPr>
              <a:t>Surrounding-tissue normalisation</a:t>
            </a:r>
            <a:r>
              <a:rPr sz="1800">
                <a:solidFill>
                  <a:srgbClr val="222222"/>
                </a:solidFill>
              </a:rPr>
              <a:t> (graft vs. neighbouring tissue) — no signal</a:t>
            </a:r>
          </a:p>
          <a:p>
            <a:pPr>
              <a:spcBef>
                <a:spcPts val="0"/>
              </a:spcBef>
              <a:spcAft>
                <a:spcPts val="800"/>
              </a:spcAft>
            </a:pPr>
            <a:r>
              <a:rPr sz="1800" b="1">
                <a:solidFill>
                  <a:srgbClr val="002E5D"/>
                </a:solidFill>
              </a:rPr>
              <a:t>•  </a:t>
            </a:r>
            <a:r>
              <a:rPr sz="1800" b="1">
                <a:solidFill>
                  <a:srgbClr val="C0392B"/>
                </a:solidFill>
              </a:rPr>
              <a:t>Full dataset (137)</a:t>
            </a:r>
            <a:r>
              <a:rPr sz="1800">
                <a:solidFill>
                  <a:srgbClr val="222222"/>
                </a:solidFill>
              </a:rPr>
              <a:t> exploratory analysis — no signal</a:t>
            </a:r>
          </a:p>
          <a:p>
            <a:pPr>
              <a:spcBef>
                <a:spcPts val="0"/>
              </a:spcBef>
              <a:spcAft>
                <a:spcPts val="800"/>
              </a:spcAft>
            </a:pPr>
            <a:r>
              <a:rPr sz="1800" b="1">
                <a:solidFill>
                  <a:srgbClr val="002E5D"/>
                </a:solidFill>
              </a:rPr>
              <a:t>•  </a:t>
            </a:r>
            <a:r>
              <a:rPr sz="1800">
                <a:solidFill>
                  <a:srgbClr val="222222"/>
                </a:solidFill>
              </a:rPr>
              <a:t>Consistent negative result → </a:t>
            </a:r>
            <a:r>
              <a:rPr sz="1800" b="1">
                <a:solidFill>
                  <a:srgbClr val="C0392B"/>
                </a:solidFill>
              </a:rPr>
              <a:t>robust, not an artefact of one choice</a:t>
            </a:r>
          </a:p>
        </p:txBody>
      </p:sp>
      <p:pic>
        <p:nvPicPr>
          <p:cNvPr id="5" name="Picture 4" descr="23_surrounding_mask_examples.png"/>
          <p:cNvPicPr>
            <a:picLocks noChangeAspect="1"/>
          </p:cNvPicPr>
          <p:nvPr/>
        </p:nvPicPr>
        <p:blipFill>
          <a:blip r:embed="rId4"/>
          <a:stretch>
            <a:fillRect/>
          </a:stretch>
        </p:blipFill>
        <p:spPr>
          <a:xfrm>
            <a:off x="6309360" y="2178144"/>
            <a:ext cx="5486400" cy="3370392"/>
          </a:xfrm>
          <a:prstGeom prst="rect">
            <a:avLst/>
          </a:prstGeom>
        </p:spPr>
      </p:pic>
      <p:sp>
        <p:nvSpPr>
          <p:cNvPr id="6" name="TextBox 5"/>
          <p:cNvSpPr txBox="1"/>
          <p:nvPr/>
        </p:nvSpPr>
        <p:spPr>
          <a:xfrm>
            <a:off x="6309360" y="5575968"/>
            <a:ext cx="5486400" cy="292608"/>
          </a:xfrm>
          <a:prstGeom prst="rect">
            <a:avLst/>
          </a:prstGeom>
          <a:noFill/>
        </p:spPr>
        <p:txBody>
          <a:bodyPr wrap="square">
            <a:spAutoFit/>
          </a:bodyPr>
          <a:lstStyle/>
          <a:p>
            <a:pPr algn="ctr"/>
            <a:r>
              <a:rPr sz="1100" i="1">
                <a:solidFill>
                  <a:srgbClr val="555555"/>
                </a:solidFill>
              </a:rPr>
              <a:t>Surrounding-tissue masks used for the normalisation check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Discussion — What the Negative Result Means</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Grayscale-US </a:t>
            </a:r>
            <a:r>
              <a:rPr sz="1800" b="1">
                <a:solidFill>
                  <a:srgbClr val="C0392B"/>
                </a:solidFill>
              </a:rPr>
              <a:t>texture does not encode</a:t>
            </a:r>
            <a:r>
              <a:rPr sz="1800">
                <a:solidFill>
                  <a:srgbClr val="222222"/>
                </a:solidFill>
              </a:rPr>
              <a:t> the tissue changes of rejection</a:t>
            </a:r>
          </a:p>
          <a:p>
            <a:pPr>
              <a:spcBef>
                <a:spcPts val="0"/>
              </a:spcBef>
              <a:spcAft>
                <a:spcPts val="800"/>
              </a:spcAft>
            </a:pPr>
            <a:r>
              <a:rPr sz="1800" b="1">
                <a:solidFill>
                  <a:srgbClr val="002E5D"/>
                </a:solidFill>
              </a:rPr>
              <a:t>•  </a:t>
            </a:r>
            <a:r>
              <a:rPr sz="1800">
                <a:solidFill>
                  <a:srgbClr val="222222"/>
                </a:solidFill>
              </a:rPr>
              <a:t>Rejection signal lives in </a:t>
            </a:r>
            <a:r>
              <a:rPr sz="1800" b="1">
                <a:solidFill>
                  <a:srgbClr val="C0392B"/>
                </a:solidFill>
              </a:rPr>
              <a:t>stiffness (ARFI)</a:t>
            </a:r>
            <a:r>
              <a:rPr sz="1800">
                <a:solidFill>
                  <a:srgbClr val="222222"/>
                </a:solidFill>
              </a:rPr>
              <a:t> and </a:t>
            </a:r>
            <a:r>
              <a:rPr sz="1800" b="1">
                <a:solidFill>
                  <a:srgbClr val="C0392B"/>
                </a:solidFill>
              </a:rPr>
              <a:t>perfusion (DCE-US)</a:t>
            </a:r>
            <a:r>
              <a:rPr sz="1800">
                <a:solidFill>
                  <a:srgbClr val="222222"/>
                </a:solidFill>
              </a:rPr>
              <a:t> —</a:t>
            </a:r>
          </a:p>
          <a:p>
            <a:pPr lvl="1">
              <a:spcBef>
                <a:spcPts val="0"/>
              </a:spcBef>
              <a:spcAft>
                <a:spcPts val="800"/>
              </a:spcAft>
            </a:pPr>
            <a:r>
              <a:rPr sz="1600">
                <a:solidFill>
                  <a:srgbClr val="555555"/>
                </a:solidFill>
              </a:rPr>
              <a:t>–  physical properties that B-mode brightness patterns do not capture</a:t>
            </a:r>
          </a:p>
          <a:p>
            <a:pPr>
              <a:spcBef>
                <a:spcPts val="0"/>
              </a:spcBef>
              <a:spcAft>
                <a:spcPts val="800"/>
              </a:spcAft>
            </a:pPr>
            <a:r>
              <a:rPr sz="1800" b="1">
                <a:solidFill>
                  <a:srgbClr val="002E5D"/>
                </a:solidFill>
              </a:rPr>
              <a:t>•  </a:t>
            </a:r>
            <a:r>
              <a:rPr sz="1800">
                <a:solidFill>
                  <a:srgbClr val="222222"/>
                </a:solidFill>
              </a:rPr>
              <a:t>A </a:t>
            </a:r>
            <a:r>
              <a:rPr sz="1800" b="1">
                <a:solidFill>
                  <a:srgbClr val="C0392B"/>
                </a:solidFill>
              </a:rPr>
              <a:t>well-controlled negative result</a:t>
            </a:r>
            <a:r>
              <a:rPr sz="1800">
                <a:solidFill>
                  <a:srgbClr val="222222"/>
                </a:solidFill>
              </a:rPr>
              <a:t>: validated pipeline + multiple robustness checks</a:t>
            </a:r>
          </a:p>
          <a:p>
            <a:pPr>
              <a:spcBef>
                <a:spcPts val="0"/>
              </a:spcBef>
              <a:spcAft>
                <a:spcPts val="800"/>
              </a:spcAft>
            </a:pPr>
            <a:r>
              <a:rPr sz="1800" b="1">
                <a:solidFill>
                  <a:srgbClr val="002E5D"/>
                </a:solidFill>
              </a:rPr>
              <a:t>•  </a:t>
            </a:r>
            <a:r>
              <a:rPr sz="1800">
                <a:solidFill>
                  <a:srgbClr val="222222"/>
                </a:solidFill>
              </a:rPr>
              <a:t>Clinically useful: rules out a cheap shortcut, keeps focus on the biomarkers that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Limitations</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b="1">
                <a:solidFill>
                  <a:srgbClr val="C0392B"/>
                </a:solidFill>
              </a:rPr>
              <a:t>Modest sample size</a:t>
            </a:r>
            <a:r>
              <a:rPr sz="1800">
                <a:solidFill>
                  <a:srgbClr val="222222"/>
                </a:solidFill>
              </a:rPr>
              <a:t>, single centre (Hospital Clinic Barcelona)</a:t>
            </a:r>
          </a:p>
          <a:p>
            <a:pPr>
              <a:spcBef>
                <a:spcPts val="0"/>
              </a:spcBef>
              <a:spcAft>
                <a:spcPts val="800"/>
              </a:spcAft>
            </a:pPr>
            <a:r>
              <a:rPr sz="1800" b="1">
                <a:solidFill>
                  <a:srgbClr val="002E5D"/>
                </a:solidFill>
              </a:rPr>
              <a:t>•  </a:t>
            </a:r>
            <a:r>
              <a:rPr sz="1800" b="1">
                <a:solidFill>
                  <a:srgbClr val="C0392B"/>
                </a:solidFill>
              </a:rPr>
              <a:t>2D single-frame</a:t>
            </a:r>
            <a:r>
              <a:rPr sz="1800">
                <a:solidFill>
                  <a:srgbClr val="222222"/>
                </a:solidFill>
              </a:rPr>
              <a:t> images — no volumetric / temporal texture</a:t>
            </a:r>
          </a:p>
          <a:p>
            <a:pPr>
              <a:spcBef>
                <a:spcPts val="0"/>
              </a:spcBef>
              <a:spcAft>
                <a:spcPts val="800"/>
              </a:spcAft>
            </a:pPr>
            <a:r>
              <a:rPr sz="1800" b="1">
                <a:solidFill>
                  <a:srgbClr val="002E5D"/>
                </a:solidFill>
              </a:rPr>
              <a:t>•  </a:t>
            </a:r>
            <a:r>
              <a:rPr sz="1800">
                <a:solidFill>
                  <a:srgbClr val="222222"/>
                </a:solidFill>
              </a:rPr>
              <a:t>Outcome label is </a:t>
            </a:r>
            <a:r>
              <a:rPr sz="1800" b="1">
                <a:solidFill>
                  <a:srgbClr val="C0392B"/>
                </a:solidFill>
              </a:rPr>
              <a:t>clinical rejection</a:t>
            </a:r>
            <a:r>
              <a:rPr sz="1800">
                <a:solidFill>
                  <a:srgbClr val="222222"/>
                </a:solidFill>
              </a:rPr>
              <a:t> (not all biopsy-confirmed)</a:t>
            </a:r>
          </a:p>
          <a:p>
            <a:pPr>
              <a:spcBef>
                <a:spcPts val="0"/>
              </a:spcBef>
              <a:spcAft>
                <a:spcPts val="800"/>
              </a:spcAft>
            </a:pPr>
            <a:r>
              <a:rPr sz="1800" b="1">
                <a:solidFill>
                  <a:srgbClr val="002E5D"/>
                </a:solidFill>
              </a:rPr>
              <a:t>•  </a:t>
            </a:r>
            <a:r>
              <a:rPr sz="1800" b="1">
                <a:solidFill>
                  <a:srgbClr val="C0392B"/>
                </a:solidFill>
              </a:rPr>
              <a:t>Class imbalance</a:t>
            </a:r>
            <a:r>
              <a:rPr sz="1800">
                <a:solidFill>
                  <a:srgbClr val="222222"/>
                </a:solidFill>
              </a:rPr>
              <a:t> (~72 : 28) constrains classifier training</a:t>
            </a:r>
          </a:p>
          <a:p>
            <a:pPr>
              <a:spcBef>
                <a:spcPts val="0"/>
              </a:spcBef>
              <a:spcAft>
                <a:spcPts val="800"/>
              </a:spcAft>
            </a:pPr>
            <a:r>
              <a:rPr sz="1800" b="1">
                <a:solidFill>
                  <a:srgbClr val="002E5D"/>
                </a:solidFill>
              </a:rPr>
              <a:t>•  </a:t>
            </a:r>
            <a:r>
              <a:rPr sz="1800">
                <a:solidFill>
                  <a:srgbClr val="222222"/>
                </a:solidFill>
              </a:rPr>
              <a:t>Retrospective design; hand-drawn ROIs introduce some variability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Conclusions</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Automated grayscale-US </a:t>
            </a:r>
            <a:r>
              <a:rPr sz="1800" b="1">
                <a:solidFill>
                  <a:srgbClr val="C0392B"/>
                </a:solidFill>
              </a:rPr>
              <a:t>radiomics does not detect</a:t>
            </a:r>
            <a:r>
              <a:rPr sz="1800">
                <a:solidFill>
                  <a:srgbClr val="222222"/>
                </a:solidFill>
              </a:rPr>
              <a:t> pancreas rejection</a:t>
            </a:r>
          </a:p>
          <a:p>
            <a:pPr>
              <a:spcBef>
                <a:spcPts val="0"/>
              </a:spcBef>
              <a:spcAft>
                <a:spcPts val="800"/>
              </a:spcAft>
            </a:pPr>
            <a:r>
              <a:rPr sz="1800" b="1">
                <a:solidFill>
                  <a:srgbClr val="002E5D"/>
                </a:solidFill>
              </a:rPr>
              <a:t>•  </a:t>
            </a:r>
            <a:r>
              <a:rPr sz="1800">
                <a:solidFill>
                  <a:srgbClr val="222222"/>
                </a:solidFill>
              </a:rPr>
              <a:t>No feature significant after correction; classifiers at </a:t>
            </a:r>
            <a:r>
              <a:rPr sz="1800" b="1">
                <a:solidFill>
                  <a:srgbClr val="C0392B"/>
                </a:solidFill>
              </a:rPr>
              <a:t>chance (AUC ~0.64)</a:t>
            </a:r>
          </a:p>
          <a:p>
            <a:pPr>
              <a:spcBef>
                <a:spcPts val="0"/>
              </a:spcBef>
              <a:spcAft>
                <a:spcPts val="800"/>
              </a:spcAft>
            </a:pPr>
            <a:r>
              <a:rPr sz="1800" b="1">
                <a:solidFill>
                  <a:srgbClr val="002E5D"/>
                </a:solidFill>
              </a:rPr>
              <a:t>•  </a:t>
            </a:r>
            <a:r>
              <a:rPr sz="1800">
                <a:solidFill>
                  <a:srgbClr val="222222"/>
                </a:solidFill>
              </a:rPr>
              <a:t>Pipeline </a:t>
            </a:r>
            <a:r>
              <a:rPr sz="1800" b="1">
                <a:solidFill>
                  <a:srgbClr val="C0392B"/>
                </a:solidFill>
              </a:rPr>
              <a:t>validated</a:t>
            </a:r>
            <a:r>
              <a:rPr sz="1800">
                <a:solidFill>
                  <a:srgbClr val="222222"/>
                </a:solidFill>
              </a:rPr>
              <a:t>: reproduced ARFI result (</a:t>
            </a:r>
            <a:r>
              <a:rPr sz="1800" b="1">
                <a:solidFill>
                  <a:srgbClr val="C0392B"/>
                </a:solidFill>
              </a:rPr>
              <a:t>p&lt;0.001, r=0.72</a:t>
            </a:r>
            <a:r>
              <a:rPr sz="1800">
                <a:solidFill>
                  <a:srgbClr val="222222"/>
                </a:solidFill>
              </a:rPr>
              <a:t>)</a:t>
            </a:r>
          </a:p>
          <a:p>
            <a:pPr>
              <a:spcBef>
                <a:spcPts val="0"/>
              </a:spcBef>
              <a:spcAft>
                <a:spcPts val="800"/>
              </a:spcAft>
            </a:pPr>
            <a:r>
              <a:rPr sz="1800" b="1">
                <a:solidFill>
                  <a:srgbClr val="002E5D"/>
                </a:solidFill>
              </a:rPr>
              <a:t>•  </a:t>
            </a:r>
            <a:r>
              <a:rPr sz="1800">
                <a:solidFill>
                  <a:srgbClr val="222222"/>
                </a:solidFill>
              </a:rPr>
              <a:t>The ARFI signal is </a:t>
            </a:r>
            <a:r>
              <a:rPr sz="1800" b="1">
                <a:solidFill>
                  <a:srgbClr val="C0392B"/>
                </a:solidFill>
              </a:rPr>
              <a:t>between-patient baseline stiffness</a:t>
            </a:r>
            <a:r>
              <a:rPr sz="1800">
                <a:solidFill>
                  <a:srgbClr val="222222"/>
                </a:solidFill>
              </a:rPr>
              <a:t>, not a transient change</a:t>
            </a:r>
          </a:p>
          <a:p>
            <a:pPr>
              <a:spcBef>
                <a:spcPts val="0"/>
              </a:spcBef>
              <a:spcAft>
                <a:spcPts val="800"/>
              </a:spcAft>
            </a:pPr>
            <a:r>
              <a:rPr sz="1800" b="1">
                <a:solidFill>
                  <a:srgbClr val="002E5D"/>
                </a:solidFill>
              </a:rPr>
              <a:t>•  </a:t>
            </a:r>
            <a:r>
              <a:rPr sz="1800" b="1">
                <a:solidFill>
                  <a:srgbClr val="C0392B"/>
                </a:solidFill>
              </a:rPr>
              <a:t>Clinical biomarkers remain necessary</a:t>
            </a:r>
            <a:r>
              <a:rPr sz="1800">
                <a:solidFill>
                  <a:srgbClr val="222222"/>
                </a:solidFill>
              </a:rPr>
              <a:t> for non-invasive rejection monitoring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Future Work &amp; Thank You</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b="1">
                <a:solidFill>
                  <a:srgbClr val="C0392B"/>
                </a:solidFill>
              </a:rPr>
              <a:t>Deep learning</a:t>
            </a:r>
            <a:r>
              <a:rPr sz="1800">
                <a:solidFill>
                  <a:srgbClr val="222222"/>
                </a:solidFill>
              </a:rPr>
              <a:t> on raw images (features beyond hand-crafted texture)</a:t>
            </a:r>
          </a:p>
          <a:p>
            <a:pPr>
              <a:spcBef>
                <a:spcPts val="0"/>
              </a:spcBef>
              <a:spcAft>
                <a:spcPts val="800"/>
              </a:spcAft>
            </a:pPr>
            <a:r>
              <a:rPr sz="1800" b="1">
                <a:solidFill>
                  <a:srgbClr val="002E5D"/>
                </a:solidFill>
              </a:rPr>
              <a:t>•  </a:t>
            </a:r>
            <a:r>
              <a:rPr sz="1800" b="1">
                <a:solidFill>
                  <a:srgbClr val="C0392B"/>
                </a:solidFill>
              </a:rPr>
              <a:t>Multi-parametric</a:t>
            </a:r>
            <a:r>
              <a:rPr sz="1800">
                <a:solidFill>
                  <a:srgbClr val="222222"/>
                </a:solidFill>
              </a:rPr>
              <a:t> models: combine B-mode + ARFI + DCE-US</a:t>
            </a:r>
          </a:p>
          <a:p>
            <a:pPr>
              <a:spcBef>
                <a:spcPts val="0"/>
              </a:spcBef>
              <a:spcAft>
                <a:spcPts val="800"/>
              </a:spcAft>
            </a:pPr>
            <a:r>
              <a:rPr sz="1800" b="1">
                <a:solidFill>
                  <a:srgbClr val="002E5D"/>
                </a:solidFill>
              </a:rPr>
              <a:t>•  </a:t>
            </a:r>
            <a:r>
              <a:rPr sz="1800" b="1">
                <a:solidFill>
                  <a:srgbClr val="C0392B"/>
                </a:solidFill>
              </a:rPr>
              <a:t>Larger, multi-centre, prospective</a:t>
            </a:r>
            <a:r>
              <a:rPr sz="1800">
                <a:solidFill>
                  <a:srgbClr val="222222"/>
                </a:solidFill>
              </a:rPr>
              <a:t> cohorts with biopsy-confirmed labels</a:t>
            </a:r>
          </a:p>
          <a:p>
            <a:pPr>
              <a:spcBef>
                <a:spcPts val="0"/>
              </a:spcBef>
              <a:spcAft>
                <a:spcPts val="800"/>
              </a:spcAft>
            </a:pPr>
            <a:r>
              <a:rPr sz="1800" b="1">
                <a:solidFill>
                  <a:srgbClr val="002E5D"/>
                </a:solidFill>
              </a:rPr>
              <a:t>•  </a:t>
            </a:r>
            <a:r>
              <a:rPr sz="1800" b="1">
                <a:solidFill>
                  <a:srgbClr val="C0392B"/>
                </a:solidFill>
              </a:rPr>
              <a:t>Volumetric / temporal</a:t>
            </a:r>
            <a:r>
              <a:rPr sz="1800">
                <a:solidFill>
                  <a:srgbClr val="222222"/>
                </a:solidFill>
              </a:rPr>
              <a:t> (3D or cine-loop) ultrasound</a:t>
            </a:r>
          </a:p>
          <a:p>
            <a:pPr>
              <a:spcBef>
                <a:spcPts val="0"/>
              </a:spcBef>
              <a:spcAft>
                <a:spcPts val="800"/>
              </a:spcAft>
            </a:pPr>
            <a:r>
              <a:rPr sz="1800" b="1">
                <a:solidFill>
                  <a:srgbClr val="002E5D"/>
                </a:solidFill>
              </a:rPr>
              <a:t>•  </a:t>
            </a:r>
            <a:r>
              <a:rPr sz="1800" b="1">
                <a:solidFill>
                  <a:srgbClr val="C0392B"/>
                </a:solidFill>
              </a:rPr>
              <a:t>Thank you — I'm happy to take your questions.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Slides</a:t>
            </a:r>
          </a:p>
        </p:txBody>
      </p:sp>
      <p:sp>
        <p:nvSpPr>
          <p:cNvPr id="3" name="Text Placeholder 2"/>
          <p:cNvSpPr>
            <a:spLocks noGrp="1"/>
          </p:cNvSpPr>
          <p:nvPr>
            <p:ph type="body" idx="1"/>
          </p:nvPr>
        </p:nvSpPr>
        <p:spPr/>
        <p:txBody>
          <a:bodyPr/>
          <a:lstStyle/>
          <a:p>
            <a:r>
              <a:t>Supporting detail for questions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Backup — Statistical Detail</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Independent dataset: 55 studies, one per patient (no repeated measures)</a:t>
            </a:r>
          </a:p>
          <a:p>
            <a:pPr>
              <a:spcBef>
                <a:spcPts val="0"/>
              </a:spcBef>
              <a:spcAft>
                <a:spcPts val="800"/>
              </a:spcAft>
            </a:pPr>
            <a:r>
              <a:rPr sz="1800" b="1">
                <a:solidFill>
                  <a:srgbClr val="002E5D"/>
                </a:solidFill>
              </a:rPr>
              <a:t>•  </a:t>
            </a:r>
            <a:r>
              <a:rPr sz="1800">
                <a:solidFill>
                  <a:srgbClr val="222222"/>
                </a:solidFill>
              </a:rPr>
              <a:t>Shapiro-Wilk → Welch's t / Mann-Whitney U per feature</a:t>
            </a:r>
          </a:p>
          <a:p>
            <a:pPr>
              <a:spcBef>
                <a:spcPts val="0"/>
              </a:spcBef>
              <a:spcAft>
                <a:spcPts val="800"/>
              </a:spcAft>
            </a:pPr>
            <a:r>
              <a:rPr sz="1800" b="1">
                <a:solidFill>
                  <a:srgbClr val="002E5D"/>
                </a:solidFill>
              </a:rPr>
              <a:t>•  </a:t>
            </a:r>
            <a:r>
              <a:rPr sz="1800">
                <a:solidFill>
                  <a:srgbClr val="222222"/>
                </a:solidFill>
              </a:rPr>
              <a:t>Benjamini-Hochberg FDR across all 93 features; q &lt; 0.05 threshold</a:t>
            </a:r>
          </a:p>
          <a:p>
            <a:pPr>
              <a:spcBef>
                <a:spcPts val="0"/>
              </a:spcBef>
              <a:spcAft>
                <a:spcPts val="800"/>
              </a:spcAft>
            </a:pPr>
            <a:r>
              <a:rPr sz="1800" b="1">
                <a:solidFill>
                  <a:srgbClr val="002E5D"/>
                </a:solidFill>
              </a:rPr>
              <a:t>•  </a:t>
            </a:r>
            <a:r>
              <a:rPr sz="1800">
                <a:solidFill>
                  <a:srgbClr val="222222"/>
                </a:solidFill>
              </a:rPr>
              <a:t>0 features significant; smallest corrected q-values well above 0.05</a:t>
            </a:r>
          </a:p>
          <a:p>
            <a:pPr>
              <a:spcBef>
                <a:spcPts val="0"/>
              </a:spcBef>
              <a:spcAft>
                <a:spcPts val="800"/>
              </a:spcAft>
            </a:pPr>
            <a:r>
              <a:rPr sz="1800" b="1">
                <a:solidFill>
                  <a:srgbClr val="002E5D"/>
                </a:solidFill>
              </a:rPr>
              <a:t>•  </a:t>
            </a:r>
            <a:r>
              <a:rPr sz="1800">
                <a:solidFill>
                  <a:srgbClr val="222222"/>
                </a:solidFill>
              </a:rPr>
              <a:t>Full 93-feature table with p, q and effect sizes is in Appendix B of the thesis</a:t>
            </a:r>
          </a:p>
        </p:txBody>
      </p:sp>
      <p:pic>
        <p:nvPicPr>
          <p:cNvPr id="5" name="Picture 4" descr="19_pvalue_comparison_full_vs_independent_normalised.png"/>
          <p:cNvPicPr>
            <a:picLocks noChangeAspect="1"/>
          </p:cNvPicPr>
          <p:nvPr/>
        </p:nvPicPr>
        <p:blipFill>
          <a:blip r:embed="rId4"/>
          <a:stretch>
            <a:fillRect/>
          </a:stretch>
        </p:blipFill>
        <p:spPr>
          <a:xfrm>
            <a:off x="6965216" y="1783080"/>
            <a:ext cx="4174687" cy="4160520"/>
          </a:xfrm>
          <a:prstGeom prst="rect">
            <a:avLst/>
          </a:prstGeom>
        </p:spPr>
      </p:pic>
      <p:sp>
        <p:nvSpPr>
          <p:cNvPr id="6" name="TextBox 5"/>
          <p:cNvSpPr txBox="1"/>
          <p:nvPr/>
        </p:nvSpPr>
        <p:spPr>
          <a:xfrm>
            <a:off x="6309360" y="5971032"/>
            <a:ext cx="5486400" cy="292608"/>
          </a:xfrm>
          <a:prstGeom prst="rect">
            <a:avLst/>
          </a:prstGeom>
          <a:noFill/>
        </p:spPr>
        <p:txBody>
          <a:bodyPr wrap="square">
            <a:spAutoFit/>
          </a:bodyPr>
          <a:lstStyle/>
          <a:p>
            <a:pPr algn="ctr"/>
            <a:r>
              <a:rPr sz="1100" i="1">
                <a:solidFill>
                  <a:srgbClr val="555555"/>
                </a:solidFill>
              </a:rPr>
              <a:t>Per-feature p-values: full vs. independent dataset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Backup — Clinical Biomarker Replication</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11064240" cy="1874519"/>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Reproduced Bassaganyas et al. (2025) on the same cohort</a:t>
            </a:r>
          </a:p>
          <a:p>
            <a:pPr>
              <a:spcBef>
                <a:spcPts val="0"/>
              </a:spcBef>
              <a:spcAft>
                <a:spcPts val="800"/>
              </a:spcAft>
            </a:pPr>
            <a:r>
              <a:rPr sz="1800" b="1">
                <a:solidFill>
                  <a:srgbClr val="002E5D"/>
                </a:solidFill>
              </a:rPr>
              <a:t>•  </a:t>
            </a:r>
            <a:r>
              <a:rPr sz="1800">
                <a:solidFill>
                  <a:srgbClr val="222222"/>
                </a:solidFill>
              </a:rPr>
              <a:t>ARFI elastography: </a:t>
            </a:r>
            <a:r>
              <a:rPr sz="1800" b="1">
                <a:solidFill>
                  <a:srgbClr val="C0392B"/>
                </a:solidFill>
              </a:rPr>
              <a:t>p &lt; 0.001, r = 0.72</a:t>
            </a:r>
            <a:r>
              <a:rPr sz="1800">
                <a:solidFill>
                  <a:srgbClr val="222222"/>
                </a:solidFill>
              </a:rPr>
              <a:t> (late period) — matches to 3 dp</a:t>
            </a:r>
          </a:p>
          <a:p>
            <a:pPr>
              <a:spcBef>
                <a:spcPts val="0"/>
              </a:spcBef>
              <a:spcAft>
                <a:spcPts val="800"/>
              </a:spcAft>
            </a:pPr>
            <a:r>
              <a:rPr sz="1800" b="1">
                <a:solidFill>
                  <a:srgbClr val="002E5D"/>
                </a:solidFill>
              </a:rPr>
              <a:t>•  </a:t>
            </a:r>
            <a:r>
              <a:rPr sz="1800">
                <a:solidFill>
                  <a:srgbClr val="222222"/>
                </a:solidFill>
              </a:rPr>
              <a:t>DCE-US perfusion parameters analysed with the same pipeline</a:t>
            </a:r>
          </a:p>
          <a:p>
            <a:pPr>
              <a:spcBef>
                <a:spcPts val="0"/>
              </a:spcBef>
              <a:spcAft>
                <a:spcPts val="800"/>
              </a:spcAft>
            </a:pPr>
            <a:r>
              <a:rPr sz="1800" b="1">
                <a:solidFill>
                  <a:srgbClr val="002E5D"/>
                </a:solidFill>
              </a:rPr>
              <a:t>•  </a:t>
            </a:r>
            <a:r>
              <a:rPr sz="1800">
                <a:solidFill>
                  <a:srgbClr val="222222"/>
                </a:solidFill>
              </a:rPr>
              <a:t>Confirms the analysis pipeline is correct and sensitive to real signal</a:t>
            </a:r>
          </a:p>
        </p:txBody>
      </p:sp>
      <p:pic>
        <p:nvPicPr>
          <p:cNvPr id="5" name="Picture 4" descr="14b_boxplots_arfi.png"/>
          <p:cNvPicPr>
            <a:picLocks noChangeAspect="1"/>
          </p:cNvPicPr>
          <p:nvPr/>
        </p:nvPicPr>
        <p:blipFill>
          <a:blip r:embed="rId4"/>
          <a:stretch>
            <a:fillRect/>
          </a:stretch>
        </p:blipFill>
        <p:spPr>
          <a:xfrm>
            <a:off x="822960" y="3845764"/>
            <a:ext cx="10515600" cy="2092552"/>
          </a:xfrm>
          <a:prstGeom prst="rect">
            <a:avLst/>
          </a:prstGeom>
        </p:spPr>
      </p:pic>
      <p:sp>
        <p:nvSpPr>
          <p:cNvPr id="6" name="TextBox 5"/>
          <p:cNvSpPr txBox="1"/>
          <p:nvPr/>
        </p:nvSpPr>
        <p:spPr>
          <a:xfrm>
            <a:off x="822960" y="5965748"/>
            <a:ext cx="10515600" cy="292608"/>
          </a:xfrm>
          <a:prstGeom prst="rect">
            <a:avLst/>
          </a:prstGeom>
          <a:noFill/>
        </p:spPr>
        <p:txBody>
          <a:bodyPr wrap="square">
            <a:spAutoFit/>
          </a:bodyPr>
          <a:lstStyle/>
          <a:p>
            <a:pPr algn="ctr"/>
            <a:r>
              <a:rPr sz="1100" i="1">
                <a:solidFill>
                  <a:srgbClr val="555555"/>
                </a:solidFill>
              </a:rPr>
              <a:t>ARFI stiffness by group (positive control)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Backup — ML Configuration &amp; Results</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Correlation pre-filter |r| &gt; 0.9 → 27 features (drop higher-p of each pair)</a:t>
            </a:r>
          </a:p>
          <a:p>
            <a:pPr>
              <a:spcBef>
                <a:spcPts val="0"/>
              </a:spcBef>
              <a:spcAft>
                <a:spcPts val="800"/>
              </a:spcAft>
            </a:pPr>
            <a:r>
              <a:rPr sz="1800" b="1">
                <a:solidFill>
                  <a:srgbClr val="002E5D"/>
                </a:solidFill>
              </a:rPr>
              <a:t>•  </a:t>
            </a:r>
            <a:r>
              <a:rPr sz="1800">
                <a:solidFill>
                  <a:srgbClr val="222222"/>
                </a:solidFill>
              </a:rPr>
              <a:t>SelectKBest k grid tuned jointly with model hyper-parameters (GridSearchCV)</a:t>
            </a:r>
          </a:p>
          <a:p>
            <a:pPr>
              <a:spcBef>
                <a:spcPts val="0"/>
              </a:spcBef>
              <a:spcAft>
                <a:spcPts val="800"/>
              </a:spcAft>
            </a:pPr>
            <a:r>
              <a:rPr sz="1800" b="1">
                <a:solidFill>
                  <a:srgbClr val="002E5D"/>
                </a:solidFill>
              </a:rPr>
              <a:t>•  </a:t>
            </a:r>
            <a:r>
              <a:rPr sz="1800">
                <a:solidFill>
                  <a:srgbClr val="222222"/>
                </a:solidFill>
              </a:rPr>
              <a:t>LogReg AUC 0.636 [0.48,0.78] · RF 0.588 · NaiveBayes 0.618 · SVM 0.408</a:t>
            </a:r>
          </a:p>
          <a:p>
            <a:pPr>
              <a:spcBef>
                <a:spcPts val="0"/>
              </a:spcBef>
              <a:spcAft>
                <a:spcPts val="800"/>
              </a:spcAft>
            </a:pPr>
            <a:r>
              <a:rPr sz="1800" b="1">
                <a:solidFill>
                  <a:srgbClr val="002E5D"/>
                </a:solidFill>
              </a:rPr>
              <a:t>•  </a:t>
            </a:r>
            <a:r>
              <a:rPr sz="1800">
                <a:solidFill>
                  <a:srgbClr val="222222"/>
                </a:solidFill>
              </a:rPr>
              <a:t>Sensitivity/specificity trade-offs reflect class imbalance, not real signal</a:t>
            </a:r>
          </a:p>
          <a:p>
            <a:pPr>
              <a:spcBef>
                <a:spcPts val="0"/>
              </a:spcBef>
              <a:spcAft>
                <a:spcPts val="800"/>
              </a:spcAft>
            </a:pPr>
            <a:r>
              <a:rPr sz="1800" b="1">
                <a:solidFill>
                  <a:srgbClr val="002E5D"/>
                </a:solidFill>
              </a:rPr>
              <a:t>•  </a:t>
            </a:r>
            <a:r>
              <a:rPr sz="1800">
                <a:solidFill>
                  <a:srgbClr val="222222"/>
                </a:solidFill>
              </a:rPr>
              <a:t>Bootstrap 1000 resamples for every 95% confidence interval</a:t>
            </a:r>
          </a:p>
        </p:txBody>
      </p:sp>
      <p:pic>
        <p:nvPicPr>
          <p:cNvPr id="5" name="Picture 4" descr="roc_independent_dataset.png"/>
          <p:cNvPicPr>
            <a:picLocks noChangeAspect="1"/>
          </p:cNvPicPr>
          <p:nvPr/>
        </p:nvPicPr>
        <p:blipFill>
          <a:blip r:embed="rId4"/>
          <a:stretch>
            <a:fillRect/>
          </a:stretch>
        </p:blipFill>
        <p:spPr>
          <a:xfrm>
            <a:off x="6309360" y="2695769"/>
            <a:ext cx="5486400" cy="2335142"/>
          </a:xfrm>
          <a:prstGeom prst="rect">
            <a:avLst/>
          </a:prstGeom>
        </p:spPr>
      </p:pic>
      <p:sp>
        <p:nvSpPr>
          <p:cNvPr id="6" name="TextBox 5"/>
          <p:cNvSpPr txBox="1"/>
          <p:nvPr/>
        </p:nvSpPr>
        <p:spPr>
          <a:xfrm>
            <a:off x="6309360" y="5058343"/>
            <a:ext cx="5486400" cy="292608"/>
          </a:xfrm>
          <a:prstGeom prst="rect">
            <a:avLst/>
          </a:prstGeom>
          <a:noFill/>
        </p:spPr>
        <p:txBody>
          <a:bodyPr wrap="square">
            <a:spAutoFit/>
          </a:bodyPr>
          <a:lstStyle/>
          <a:p>
            <a:pPr algn="ctr"/>
            <a:r>
              <a:rPr sz="1100" i="1">
                <a:solidFill>
                  <a:srgbClr val="555555"/>
                </a:solidFill>
              </a:rPr>
              <a:t>ROC curves, all four tuned classifiers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Backup — Full Dataset (137) Exploratory Analysis</a:t>
            </a:r>
          </a:p>
        </p:txBody>
      </p:sp>
      <p:pic>
        <p:nvPicPr>
          <p:cNvPr id="3" name="Picture 2" descr="image.png"/>
          <p:cNvPicPr>
            <a:picLocks noChangeAspect="1"/>
          </p:cNvPicPr>
          <p:nvPr/>
        </p:nvPicPr>
        <p:blipFill>
          <a:blip r:embed="rId3"/>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Full dataset = all 137 studies (repeated measures — not independent)</a:t>
            </a:r>
          </a:p>
          <a:p>
            <a:pPr>
              <a:spcBef>
                <a:spcPts val="0"/>
              </a:spcBef>
              <a:spcAft>
                <a:spcPts val="800"/>
              </a:spcAft>
            </a:pPr>
            <a:r>
              <a:rPr sz="1800" b="1">
                <a:solidFill>
                  <a:srgbClr val="002E5D"/>
                </a:solidFill>
              </a:rPr>
              <a:t>•  </a:t>
            </a:r>
            <a:r>
              <a:rPr sz="1800">
                <a:solidFill>
                  <a:srgbClr val="222222"/>
                </a:solidFill>
              </a:rPr>
              <a:t>Reported only as an exploratory supplement (Appendix A)</a:t>
            </a:r>
          </a:p>
          <a:p>
            <a:pPr>
              <a:spcBef>
                <a:spcPts val="0"/>
              </a:spcBef>
              <a:spcAft>
                <a:spcPts val="800"/>
              </a:spcAft>
            </a:pPr>
            <a:r>
              <a:rPr sz="1800" b="1">
                <a:solidFill>
                  <a:srgbClr val="002E5D"/>
                </a:solidFill>
              </a:rPr>
              <a:t>•  </a:t>
            </a:r>
            <a:r>
              <a:rPr sz="1800">
                <a:solidFill>
                  <a:srgbClr val="222222"/>
                </a:solidFill>
              </a:rPr>
              <a:t>Same conclusion: no feature significant after correction; ML at chance</a:t>
            </a:r>
          </a:p>
          <a:p>
            <a:pPr>
              <a:spcBef>
                <a:spcPts val="0"/>
              </a:spcBef>
              <a:spcAft>
                <a:spcPts val="800"/>
              </a:spcAft>
            </a:pPr>
            <a:r>
              <a:rPr sz="1800" b="1">
                <a:solidFill>
                  <a:srgbClr val="002E5D"/>
                </a:solidFill>
              </a:rPr>
              <a:t>•  </a:t>
            </a:r>
            <a:r>
              <a:rPr sz="1800">
                <a:solidFill>
                  <a:srgbClr val="222222"/>
                </a:solidFill>
              </a:rPr>
              <a:t>Reassures that the primary 55-study result is not just a small-sample fluke</a:t>
            </a:r>
          </a:p>
        </p:txBody>
      </p:sp>
      <p:pic>
        <p:nvPicPr>
          <p:cNvPr id="5" name="Picture 4" descr="20_comparison_full_vs_independent_normalised.png"/>
          <p:cNvPicPr>
            <a:picLocks noChangeAspect="1"/>
          </p:cNvPicPr>
          <p:nvPr/>
        </p:nvPicPr>
        <p:blipFill>
          <a:blip r:embed="rId4"/>
          <a:stretch>
            <a:fillRect/>
          </a:stretch>
        </p:blipFill>
        <p:spPr>
          <a:xfrm>
            <a:off x="6309360" y="2510225"/>
            <a:ext cx="5486400" cy="2706230"/>
          </a:xfrm>
          <a:prstGeom prst="rect">
            <a:avLst/>
          </a:prstGeom>
        </p:spPr>
      </p:pic>
      <p:sp>
        <p:nvSpPr>
          <p:cNvPr id="6" name="TextBox 5"/>
          <p:cNvSpPr txBox="1"/>
          <p:nvPr/>
        </p:nvSpPr>
        <p:spPr>
          <a:xfrm>
            <a:off x="6309360" y="5243887"/>
            <a:ext cx="5486400" cy="292608"/>
          </a:xfrm>
          <a:prstGeom prst="rect">
            <a:avLst/>
          </a:prstGeom>
          <a:noFill/>
        </p:spPr>
        <p:txBody>
          <a:bodyPr wrap="square">
            <a:spAutoFit/>
          </a:bodyPr>
          <a:lstStyle/>
          <a:p>
            <a:pPr algn="ctr"/>
            <a:r>
              <a:rPr sz="1100" i="1">
                <a:solidFill>
                  <a:srgbClr val="555555"/>
                </a:solidFill>
              </a:rPr>
              <a:t>Full vs. independent dataset — same null conclusion</a:t>
            </a: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4449</Words>
  <Application>Microsoft Office PowerPoint</Application>
  <PresentationFormat>Widescreen</PresentationFormat>
  <Paragraphs>171</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Verdana</vt:lpstr>
      <vt:lpstr>Tema de Office</vt:lpstr>
      <vt:lpstr>PowerPoint Presentation</vt:lpstr>
      <vt:lpstr>Outline</vt:lpstr>
      <vt:lpstr>Clinical Background: Pancreas Transplant Rejection</vt:lpstr>
      <vt:lpstr>The Opportunity: Non-invasive Ultrasound</vt:lpstr>
      <vt:lpstr>Research Question &amp; Objectives</vt:lpstr>
      <vt:lpstr>Dataset</vt:lpstr>
      <vt:lpstr>Preprocessing: Isolating the Graft</vt:lpstr>
      <vt:lpstr>Radiomics Feature Extraction</vt:lpstr>
      <vt:lpstr>Statistical Methodology</vt:lpstr>
      <vt:lpstr>Machine-Learning Methodology</vt:lpstr>
      <vt:lpstr>Result 1 — No Radiomics Feature Discriminates Rejection</vt:lpstr>
      <vt:lpstr>Result 2 — Classifiers Perform at Chance</vt:lpstr>
      <vt:lpstr>Result 3 — Positive Control: The Pipeline Works</vt:lpstr>
      <vt:lpstr>Why ARFI Works but Radiomics Doesn't</vt:lpstr>
      <vt:lpstr>Robustness — The Null Holds Every Way I Tested It</vt:lpstr>
      <vt:lpstr>Discussion — What the Negative Result Means</vt:lpstr>
      <vt:lpstr>Limitations</vt:lpstr>
      <vt:lpstr>Conclusions</vt:lpstr>
      <vt:lpstr>Future Work &amp; Thank You</vt:lpstr>
      <vt:lpstr>Backup Slides</vt:lpstr>
      <vt:lpstr>Backup — Statistical Detail</vt:lpstr>
      <vt:lpstr>Backup — Clinical Biomarker Replication</vt:lpstr>
      <vt:lpstr>Backup — ML Configuration &amp; Results</vt:lpstr>
      <vt:lpstr>Backup — Full Dataset (137) Exploratory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u225955</dc:creator>
  <cp:lastModifiedBy>DANIEL DUHNEV</cp:lastModifiedBy>
  <cp:revision>10</cp:revision>
  <dcterms:created xsi:type="dcterms:W3CDTF">2024-09-16T09:57:12Z</dcterms:created>
  <dcterms:modified xsi:type="dcterms:W3CDTF">2026-07-05T19:23:03Z</dcterms:modified>
</cp:coreProperties>
</file>