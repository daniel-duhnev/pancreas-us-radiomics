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6" r:id="rId5"/>
    <p:sldId id="257" r:id="rId4"/>
    <p:sldId id="258" r:id="rId3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08" y="-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tif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tif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tif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tif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tif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tif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tif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tif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tif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tif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tif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tif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42628" y="332656"/>
            <a:ext cx="6658744" cy="792088"/>
          </a:xfrm>
        </p:spPr>
        <p:txBody>
          <a:bodyPr anchor="b"/>
          <a:lstStyle>
            <a:lvl1pPr>
              <a:defRPr sz="2800" baseline="0">
                <a:solidFill>
                  <a:srgbClr val="C00000"/>
                </a:solidFill>
                <a:latin typeface="Verdana" pitchFamily="34" charset="0"/>
              </a:defRPr>
            </a:lvl1pPr>
          </a:lstStyle>
          <a:p>
            <a:r>
              <a:rPr lang="es-ES" dirty="0" smtClean="0"/>
              <a:t>Haga clic para modificar el estilo de título del patrón</a:t>
            </a:r>
            <a:endParaRPr lang="es-E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59632" y="1916832"/>
            <a:ext cx="7340600" cy="2743200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Pct val="100000"/>
              <a:defRPr sz="2400"/>
            </a:lvl1pPr>
          </a:lstStyle>
          <a:p>
            <a:r>
              <a:rPr lang="es-ES" dirty="0" smtClean="0"/>
              <a:t>Haga clic para modificar el estilo de subtítulo del patrón</a:t>
            </a:r>
            <a:endParaRPr lang="es-E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87624" y="332656"/>
            <a:ext cx="7124700" cy="1143000"/>
          </a:xfrm>
        </p:spPr>
        <p:txBody>
          <a:bodyPr/>
          <a:lstStyle>
            <a:lvl1pPr>
              <a:defRPr sz="2800" baseline="0">
                <a:latin typeface="Verdana" pitchFamily="34" charset="0"/>
              </a:defRPr>
            </a:lvl1pPr>
          </a:lstStyle>
          <a:p>
            <a:r>
              <a:rPr lang="es-ES" dirty="0" smtClean="0"/>
              <a:t>Haga clic para modificar el estilo de título del patrón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257300" y="2362200"/>
            <a:ext cx="7200900" cy="3733800"/>
          </a:xfrm>
          <a:prstGeom prst="rect">
            <a:avLst/>
          </a:prstGeom>
        </p:spPr>
        <p:txBody>
          <a:bodyPr/>
          <a:lstStyle>
            <a:lvl1pPr>
              <a:buSzPct val="100000"/>
              <a:defRPr baseline="0">
                <a:latin typeface="Georgia" pitchFamily="18" charset="0"/>
              </a:defRPr>
            </a:lvl1pPr>
            <a:lvl2pPr>
              <a:buSzPct val="100000"/>
              <a:defRPr baseline="0">
                <a:latin typeface="Georgia" pitchFamily="18" charset="0"/>
              </a:defRPr>
            </a:lvl2pPr>
            <a:lvl3pPr>
              <a:buSzPct val="100000"/>
              <a:defRPr baseline="0">
                <a:latin typeface="Georgia" pitchFamily="18" charset="0"/>
              </a:defRPr>
            </a:lvl3pPr>
            <a:lvl4pPr>
              <a:buSzPct val="100000"/>
              <a:defRPr baseline="0">
                <a:latin typeface="Georgia" pitchFamily="18" charset="0"/>
              </a:defRPr>
            </a:lvl4pPr>
            <a:lvl5pPr>
              <a:buSzPct val="100000"/>
              <a:defRPr baseline="0">
                <a:latin typeface="Georgia" pitchFamily="18" charset="0"/>
              </a:defRPr>
            </a:lvl5pPr>
          </a:lstStyle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ca-E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 baseline="0">
                <a:latin typeface="Verdana" pitchFamily="34" charset="0"/>
              </a:defRPr>
            </a:lvl1pPr>
          </a:lstStyle>
          <a:p>
            <a:r>
              <a:rPr lang="es-ES" dirty="0" smtClean="0"/>
              <a:t>Haga clic para modificar el estilo de título del patrón</a:t>
            </a:r>
            <a:endParaRPr lang="ca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dirty="0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aseline="0">
                <a:latin typeface="Verdana" pitchFamily="34" charset="0"/>
              </a:defRPr>
            </a:lvl1pPr>
          </a:lstStyle>
          <a:p>
            <a:r>
              <a:rPr lang="es-ES" dirty="0" smtClean="0"/>
              <a:t>Haga clic para modificar el estilo de título del patrón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57300" y="2362200"/>
            <a:ext cx="3524250" cy="3733800"/>
          </a:xfrm>
          <a:prstGeom prst="rect">
            <a:avLst/>
          </a:prstGeom>
        </p:spPr>
        <p:txBody>
          <a:bodyPr/>
          <a:lstStyle>
            <a:lvl1pPr>
              <a:buSzPct val="100000"/>
              <a:defRPr sz="2800" baseline="0">
                <a:latin typeface="Georgia" pitchFamily="18" charset="0"/>
              </a:defRPr>
            </a:lvl1pPr>
            <a:lvl2pPr>
              <a:buSzPct val="100000"/>
              <a:defRPr sz="2400" baseline="0">
                <a:latin typeface="Georgia" pitchFamily="18" charset="0"/>
              </a:defRPr>
            </a:lvl2pPr>
            <a:lvl3pPr>
              <a:buSzPct val="100000"/>
              <a:defRPr sz="2000" baseline="0">
                <a:latin typeface="Georgia" pitchFamily="18" charset="0"/>
              </a:defRPr>
            </a:lvl3pPr>
            <a:lvl4pPr>
              <a:buSzPct val="100000"/>
              <a:defRPr sz="1800" baseline="0">
                <a:latin typeface="Georgia" pitchFamily="18" charset="0"/>
              </a:defRPr>
            </a:lvl4pPr>
            <a:lvl5pPr>
              <a:buSzPct val="100000"/>
              <a:defRPr sz="1800" baseline="0">
                <a:latin typeface="Georgia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ca-ES" dirty="0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933950" y="2362200"/>
            <a:ext cx="3524250" cy="3733800"/>
          </a:xfrm>
          <a:prstGeom prst="rect">
            <a:avLst/>
          </a:prstGeom>
        </p:spPr>
        <p:txBody>
          <a:bodyPr/>
          <a:lstStyle>
            <a:lvl1pPr>
              <a:buSzPct val="100000"/>
              <a:defRPr sz="2800" baseline="0">
                <a:latin typeface="Georgia" pitchFamily="18" charset="0"/>
              </a:defRPr>
            </a:lvl1pPr>
            <a:lvl2pPr>
              <a:buSzPct val="100000"/>
              <a:defRPr sz="2400" baseline="0">
                <a:latin typeface="Georgia" pitchFamily="18" charset="0"/>
              </a:defRPr>
            </a:lvl2pPr>
            <a:lvl3pPr>
              <a:buSzPct val="100000"/>
              <a:defRPr sz="2000" baseline="0">
                <a:latin typeface="Georgia" pitchFamily="18" charset="0"/>
              </a:defRPr>
            </a:lvl3pPr>
            <a:lvl4pPr>
              <a:buSzPct val="100000"/>
              <a:defRPr sz="1800" baseline="0">
                <a:latin typeface="Georgia" pitchFamily="18" charset="0"/>
              </a:defRPr>
            </a:lvl4pPr>
            <a:lvl5pPr>
              <a:buSzPct val="100000"/>
              <a:defRPr sz="1800" baseline="0">
                <a:latin typeface="Georgia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ca-E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87624" y="274638"/>
            <a:ext cx="7499176" cy="1143000"/>
          </a:xfrm>
        </p:spPr>
        <p:txBody>
          <a:bodyPr/>
          <a:lstStyle>
            <a:lvl1pPr>
              <a:defRPr sz="2800">
                <a:latin typeface="Verdana" pitchFamily="34" charset="0"/>
              </a:defRPr>
            </a:lvl1pPr>
          </a:lstStyle>
          <a:p>
            <a:r>
              <a:rPr lang="es-ES" dirty="0" smtClean="0"/>
              <a:t>Haga clic para modificar el estilo de título del patrón</a:t>
            </a:r>
            <a:endParaRPr lang="ca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4175" y="1853134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84175" y="2492896"/>
            <a:ext cx="4040188" cy="3951288"/>
          </a:xfrm>
          <a:prstGeom prst="rect">
            <a:avLst/>
          </a:prstGeom>
        </p:spPr>
        <p:txBody>
          <a:bodyPr/>
          <a:lstStyle>
            <a:lvl1pPr>
              <a:buSzPct val="100000"/>
              <a:defRPr sz="24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600"/>
            </a:lvl4pPr>
            <a:lvl5pPr>
              <a:buSzPct val="100000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ca-ES" dirty="0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572000" y="1853134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572000" y="2492896"/>
            <a:ext cx="4041775" cy="3951288"/>
          </a:xfrm>
          <a:prstGeom prst="rect">
            <a:avLst/>
          </a:prstGeom>
        </p:spPr>
        <p:txBody>
          <a:bodyPr/>
          <a:lstStyle>
            <a:lvl1pPr>
              <a:buSzPct val="100000"/>
              <a:defRPr sz="24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600"/>
            </a:lvl4pPr>
            <a:lvl5pPr>
              <a:buSzPct val="100000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ca-E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87624" y="404664"/>
            <a:ext cx="7124700" cy="1143000"/>
          </a:xfrm>
        </p:spPr>
        <p:txBody>
          <a:bodyPr/>
          <a:lstStyle>
            <a:lvl1pPr>
              <a:defRPr sz="2800">
                <a:latin typeface="Verdana" pitchFamily="34" charset="0"/>
              </a:defRPr>
            </a:lvl1pPr>
          </a:lstStyle>
          <a:p>
            <a:r>
              <a:rPr lang="es-ES" dirty="0" smtClean="0"/>
              <a:t>Haga clic para modificar el estilo de título del patrón</a:t>
            </a:r>
            <a:endParaRPr lang="ca-E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18046" y="692696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dirty="0" smtClean="0"/>
              <a:t>Haga clic para modificar el estilo de título del patrón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635896" y="692696"/>
            <a:ext cx="5111750" cy="5853113"/>
          </a:xfrm>
          <a:prstGeom prst="rect">
            <a:avLst/>
          </a:prstGeom>
        </p:spPr>
        <p:txBody>
          <a:bodyPr/>
          <a:lstStyle>
            <a:lvl1pPr>
              <a:buSzPct val="100000"/>
              <a:defRPr sz="3200"/>
            </a:lvl1pPr>
            <a:lvl2pPr>
              <a:buSzPct val="100000"/>
              <a:defRPr sz="2800"/>
            </a:lvl2pPr>
            <a:lvl3pPr>
              <a:buSzPct val="100000"/>
              <a:defRPr sz="2400"/>
            </a:lvl3pPr>
            <a:lvl4pPr>
              <a:buSzPct val="100000"/>
              <a:defRPr sz="2000"/>
            </a:lvl4pPr>
            <a:lvl5pPr>
              <a:buSzPct val="100000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ca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18046" y="1854746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ca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ca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87624" y="404664"/>
            <a:ext cx="7124700" cy="1143000"/>
          </a:xfrm>
        </p:spPr>
        <p:txBody>
          <a:bodyPr/>
          <a:lstStyle>
            <a:lvl1pPr>
              <a:defRPr sz="2800">
                <a:latin typeface="Verdana" pitchFamily="34" charset="0"/>
              </a:defRPr>
            </a:lvl1pPr>
          </a:lstStyle>
          <a:p>
            <a:r>
              <a:rPr lang="es-ES" dirty="0" smtClean="0"/>
              <a:t>Haga clic para modificar el estilo de título del patrón</a:t>
            </a:r>
            <a:endParaRPr lang="ca-ES" dirty="0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57300" y="2362200"/>
            <a:ext cx="7200900" cy="3733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ca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57975" y="609600"/>
            <a:ext cx="1800225" cy="54864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ca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57300" y="609600"/>
            <a:ext cx="5248275" cy="5486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ca-E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42628" y="332656"/>
            <a:ext cx="6658744" cy="792088"/>
          </a:xfrm>
        </p:spPr>
        <p:txBody>
          <a:bodyPr anchor="b"/>
          <a:lstStyle>
            <a:lvl1pPr>
              <a:defRPr sz="2800" baseline="0">
                <a:solidFill>
                  <a:srgbClr val="C00000"/>
                </a:solidFill>
                <a:latin typeface="Verdana" pitchFamily="34" charset="0"/>
              </a:defRPr>
            </a:lvl1pPr>
          </a:lstStyle>
          <a:p>
            <a:r>
              <a:rPr lang="es-ES" dirty="0" smtClean="0"/>
              <a:t>Haga clic para modificar el estilo de título del patrón</a:t>
            </a:r>
            <a:endParaRPr lang="es-E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59632" y="1916832"/>
            <a:ext cx="7340600" cy="2743200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Pct val="100000"/>
              <a:defRPr sz="2400"/>
            </a:lvl1pPr>
          </a:lstStyle>
          <a:p>
            <a:r>
              <a:rPr lang="es-ES" dirty="0" smtClean="0"/>
              <a:t>Haga clic para modificar el estilo de subtítulo del patrón</a:t>
            </a:r>
            <a:endParaRPr lang="es-E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87624" y="332656"/>
            <a:ext cx="7124700" cy="1143000"/>
          </a:xfrm>
        </p:spPr>
        <p:txBody>
          <a:bodyPr/>
          <a:lstStyle>
            <a:lvl1pPr>
              <a:defRPr sz="2800" baseline="0">
                <a:latin typeface="Verdana" pitchFamily="34" charset="0"/>
              </a:defRPr>
            </a:lvl1pPr>
          </a:lstStyle>
          <a:p>
            <a:r>
              <a:rPr lang="es-ES" dirty="0" smtClean="0"/>
              <a:t>Haga clic para modificar el estilo de título del patrón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257300" y="2362200"/>
            <a:ext cx="7200900" cy="3733800"/>
          </a:xfrm>
          <a:prstGeom prst="rect">
            <a:avLst/>
          </a:prstGeom>
        </p:spPr>
        <p:txBody>
          <a:bodyPr/>
          <a:lstStyle>
            <a:lvl1pPr>
              <a:buSzPct val="100000"/>
              <a:defRPr baseline="0">
                <a:latin typeface="Georgia" pitchFamily="18" charset="0"/>
              </a:defRPr>
            </a:lvl1pPr>
            <a:lvl2pPr>
              <a:buSzPct val="100000"/>
              <a:defRPr baseline="0">
                <a:latin typeface="Georgia" pitchFamily="18" charset="0"/>
              </a:defRPr>
            </a:lvl2pPr>
            <a:lvl3pPr>
              <a:buSzPct val="100000"/>
              <a:defRPr baseline="0">
                <a:latin typeface="Georgia" pitchFamily="18" charset="0"/>
              </a:defRPr>
            </a:lvl3pPr>
            <a:lvl4pPr>
              <a:buSzPct val="100000"/>
              <a:defRPr baseline="0">
                <a:latin typeface="Georgia" pitchFamily="18" charset="0"/>
              </a:defRPr>
            </a:lvl4pPr>
            <a:lvl5pPr>
              <a:buSzPct val="100000"/>
              <a:defRPr baseline="0">
                <a:latin typeface="Georgia" pitchFamily="18" charset="0"/>
              </a:defRPr>
            </a:lvl5pPr>
          </a:lstStyle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ca-E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 baseline="0">
                <a:latin typeface="Verdana" pitchFamily="34" charset="0"/>
              </a:defRPr>
            </a:lvl1pPr>
          </a:lstStyle>
          <a:p>
            <a:r>
              <a:rPr lang="es-ES" dirty="0" smtClean="0"/>
              <a:t>Haga clic para modificar el estilo de título del patrón</a:t>
            </a:r>
            <a:endParaRPr lang="ca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dirty="0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aseline="0">
                <a:latin typeface="Verdana" pitchFamily="34" charset="0"/>
              </a:defRPr>
            </a:lvl1pPr>
          </a:lstStyle>
          <a:p>
            <a:r>
              <a:rPr lang="es-ES" dirty="0" smtClean="0"/>
              <a:t>Haga clic para modificar el estilo de título del patrón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57300" y="2362200"/>
            <a:ext cx="3524250" cy="3733800"/>
          </a:xfrm>
          <a:prstGeom prst="rect">
            <a:avLst/>
          </a:prstGeom>
        </p:spPr>
        <p:txBody>
          <a:bodyPr/>
          <a:lstStyle>
            <a:lvl1pPr>
              <a:buSzPct val="100000"/>
              <a:defRPr sz="2800" baseline="0">
                <a:latin typeface="Georgia" pitchFamily="18" charset="0"/>
              </a:defRPr>
            </a:lvl1pPr>
            <a:lvl2pPr>
              <a:buSzPct val="100000"/>
              <a:defRPr sz="2400" baseline="0">
                <a:latin typeface="Georgia" pitchFamily="18" charset="0"/>
              </a:defRPr>
            </a:lvl2pPr>
            <a:lvl3pPr>
              <a:buSzPct val="100000"/>
              <a:defRPr sz="2000" baseline="0">
                <a:latin typeface="Georgia" pitchFamily="18" charset="0"/>
              </a:defRPr>
            </a:lvl3pPr>
            <a:lvl4pPr>
              <a:buSzPct val="100000"/>
              <a:defRPr sz="1800" baseline="0">
                <a:latin typeface="Georgia" pitchFamily="18" charset="0"/>
              </a:defRPr>
            </a:lvl4pPr>
            <a:lvl5pPr>
              <a:buSzPct val="100000"/>
              <a:defRPr sz="1800" baseline="0">
                <a:latin typeface="Georgia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ca-ES" dirty="0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933950" y="2362200"/>
            <a:ext cx="3524250" cy="3733800"/>
          </a:xfrm>
          <a:prstGeom prst="rect">
            <a:avLst/>
          </a:prstGeom>
        </p:spPr>
        <p:txBody>
          <a:bodyPr/>
          <a:lstStyle>
            <a:lvl1pPr>
              <a:buSzPct val="100000"/>
              <a:defRPr sz="2800" baseline="0">
                <a:latin typeface="Georgia" pitchFamily="18" charset="0"/>
              </a:defRPr>
            </a:lvl1pPr>
            <a:lvl2pPr>
              <a:buSzPct val="100000"/>
              <a:defRPr sz="2400" baseline="0">
                <a:latin typeface="Georgia" pitchFamily="18" charset="0"/>
              </a:defRPr>
            </a:lvl2pPr>
            <a:lvl3pPr>
              <a:buSzPct val="100000"/>
              <a:defRPr sz="2000" baseline="0">
                <a:latin typeface="Georgia" pitchFamily="18" charset="0"/>
              </a:defRPr>
            </a:lvl3pPr>
            <a:lvl4pPr>
              <a:buSzPct val="100000"/>
              <a:defRPr sz="1800" baseline="0">
                <a:latin typeface="Georgia" pitchFamily="18" charset="0"/>
              </a:defRPr>
            </a:lvl4pPr>
            <a:lvl5pPr>
              <a:buSzPct val="100000"/>
              <a:defRPr sz="1800" baseline="0">
                <a:latin typeface="Georgia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ca-E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87624" y="274638"/>
            <a:ext cx="7499176" cy="1143000"/>
          </a:xfrm>
        </p:spPr>
        <p:txBody>
          <a:bodyPr/>
          <a:lstStyle>
            <a:lvl1pPr>
              <a:defRPr sz="2800">
                <a:latin typeface="Verdana" pitchFamily="34" charset="0"/>
              </a:defRPr>
            </a:lvl1pPr>
          </a:lstStyle>
          <a:p>
            <a:r>
              <a:rPr lang="es-ES" dirty="0" smtClean="0"/>
              <a:t>Haga clic para modificar el estilo de título del patrón</a:t>
            </a:r>
            <a:endParaRPr lang="ca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4175" y="1853134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84175" y="2492896"/>
            <a:ext cx="4040188" cy="3951288"/>
          </a:xfrm>
          <a:prstGeom prst="rect">
            <a:avLst/>
          </a:prstGeom>
        </p:spPr>
        <p:txBody>
          <a:bodyPr/>
          <a:lstStyle>
            <a:lvl1pPr>
              <a:buSzPct val="100000"/>
              <a:defRPr sz="24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600"/>
            </a:lvl4pPr>
            <a:lvl5pPr>
              <a:buSzPct val="100000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ca-ES" dirty="0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572000" y="1853134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572000" y="2492896"/>
            <a:ext cx="4041775" cy="3951288"/>
          </a:xfrm>
          <a:prstGeom prst="rect">
            <a:avLst/>
          </a:prstGeom>
        </p:spPr>
        <p:txBody>
          <a:bodyPr/>
          <a:lstStyle>
            <a:lvl1pPr>
              <a:buSzPct val="100000"/>
              <a:defRPr sz="24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600"/>
            </a:lvl4pPr>
            <a:lvl5pPr>
              <a:buSzPct val="100000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ca-E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87624" y="404664"/>
            <a:ext cx="7124700" cy="1143000"/>
          </a:xfrm>
        </p:spPr>
        <p:txBody>
          <a:bodyPr/>
          <a:lstStyle>
            <a:lvl1pPr>
              <a:defRPr sz="2800">
                <a:latin typeface="Verdana" pitchFamily="34" charset="0"/>
              </a:defRPr>
            </a:lvl1pPr>
          </a:lstStyle>
          <a:p>
            <a:r>
              <a:rPr lang="es-ES" dirty="0" smtClean="0"/>
              <a:t>Haga clic para modificar el estilo de título del patrón</a:t>
            </a:r>
            <a:endParaRPr lang="ca-E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18046" y="692696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dirty="0" smtClean="0"/>
              <a:t>Haga clic para modificar el estilo de título del patrón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635896" y="692696"/>
            <a:ext cx="5111750" cy="5853113"/>
          </a:xfrm>
          <a:prstGeom prst="rect">
            <a:avLst/>
          </a:prstGeom>
        </p:spPr>
        <p:txBody>
          <a:bodyPr/>
          <a:lstStyle>
            <a:lvl1pPr>
              <a:buSzPct val="100000"/>
              <a:defRPr sz="3200"/>
            </a:lvl1pPr>
            <a:lvl2pPr>
              <a:buSzPct val="100000"/>
              <a:defRPr sz="2800"/>
            </a:lvl2pPr>
            <a:lvl3pPr>
              <a:buSzPct val="100000"/>
              <a:defRPr sz="2400"/>
            </a:lvl3pPr>
            <a:lvl4pPr>
              <a:buSzPct val="100000"/>
              <a:defRPr sz="2000"/>
            </a:lvl4pPr>
            <a:lvl5pPr>
              <a:buSzPct val="100000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ca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18046" y="1854746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ca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ca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87624" y="404664"/>
            <a:ext cx="7124700" cy="1143000"/>
          </a:xfrm>
        </p:spPr>
        <p:txBody>
          <a:bodyPr/>
          <a:lstStyle>
            <a:lvl1pPr>
              <a:defRPr sz="2800">
                <a:latin typeface="Verdana" pitchFamily="34" charset="0"/>
              </a:defRPr>
            </a:lvl1pPr>
          </a:lstStyle>
          <a:p>
            <a:r>
              <a:rPr lang="es-ES" dirty="0" smtClean="0"/>
              <a:t>Haga clic para modificar el estilo de título del patrón</a:t>
            </a:r>
            <a:endParaRPr lang="ca-ES" dirty="0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57300" y="2362200"/>
            <a:ext cx="7200900" cy="3733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ca-E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57975" y="609600"/>
            <a:ext cx="1800225" cy="54864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ca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57300" y="609600"/>
            <a:ext cx="5248275" cy="5486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ca-E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tif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3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009650" y="1052736"/>
            <a:ext cx="71247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dirty="0" err="1" smtClean="0"/>
              <a:t>Fer</a:t>
            </a:r>
            <a:r>
              <a:rPr lang="es-ES" dirty="0" smtClean="0"/>
              <a:t> clic per </a:t>
            </a:r>
            <a:r>
              <a:rPr lang="es-ES" dirty="0" err="1" smtClean="0"/>
              <a:t>escriure</a:t>
            </a:r>
            <a:r>
              <a:rPr lang="es-ES" dirty="0" smtClean="0"/>
              <a:t> el </a:t>
            </a:r>
            <a:r>
              <a:rPr lang="es-ES" dirty="0" err="1" smtClean="0"/>
              <a:t>títol</a:t>
            </a:r>
            <a:endParaRPr lang="es-ES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C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SzPct val="150000"/>
        <a:buChar char="•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Verdana" pitchFamily="34" charset="0"/>
        <a:buChar char="–"/>
        <a:defRPr sz="2600">
          <a:solidFill>
            <a:schemeClr val="tx1"/>
          </a:solidFill>
          <a:latin typeface="Arial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SzPct val="130000"/>
        <a:buChar char="•"/>
        <a:defRPr sz="2200">
          <a:solidFill>
            <a:schemeClr val="tx1"/>
          </a:solidFill>
          <a:latin typeface="Arial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3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009650" y="1052736"/>
            <a:ext cx="71247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dirty="0" err="1" smtClean="0"/>
              <a:t>Fer</a:t>
            </a:r>
            <a:r>
              <a:rPr lang="es-ES" dirty="0" smtClean="0"/>
              <a:t> clic per </a:t>
            </a:r>
            <a:r>
              <a:rPr lang="es-ES" dirty="0" err="1" smtClean="0"/>
              <a:t>escriure</a:t>
            </a:r>
            <a:r>
              <a:rPr lang="es-ES" dirty="0" smtClean="0"/>
              <a:t> el </a:t>
            </a:r>
            <a:r>
              <a:rPr lang="es-ES" dirty="0" err="1" smtClean="0"/>
              <a:t>títol</a:t>
            </a:r>
            <a:endParaRPr lang="es-ES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C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SzPct val="150000"/>
        <a:buChar char="•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Verdana" pitchFamily="34" charset="0"/>
        <a:buChar char="–"/>
        <a:defRPr sz="2600">
          <a:solidFill>
            <a:schemeClr val="tx1"/>
          </a:solidFill>
          <a:latin typeface="Arial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SzPct val="130000"/>
        <a:buChar char="•"/>
        <a:defRPr sz="2200">
          <a:solidFill>
            <a:schemeClr val="tx1"/>
          </a:solidFill>
          <a:latin typeface="Arial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C00000"/>
                </a:solidFill>
                <a:latin typeface="Georgia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Georgia"/>
              </a:defRPr>
            </a:pPr>
            <a:r>
              <a:t>Can Ultrasound Texture Predict Pancreas Transplant Rejection?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400">
                <a:solidFill>
                  <a:srgbClr val="333333"/>
                </a:solidFill>
                <a:latin typeface="Georgia"/>
              </a:rPr>
              <a:t>Pancreas transplantation </a:t>
            </a:r>
            <a:r>
              <a:rPr sz="1400">
                <a:solidFill>
                  <a:srgbClr val="333333"/>
                </a:solidFill>
                <a:latin typeface="Georgia"/>
              </a:rPr>
              <a:t>treats severe Type 1 diabetes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333333"/>
                </a:solidFill>
                <a:latin typeface="Georgia"/>
              </a:rPr>
              <a:t>Graft rejection </a:t>
            </a:r>
            <a:r>
              <a:rPr sz="1400">
                <a:solidFill>
                  <a:srgbClr val="333333"/>
                </a:solidFill>
                <a:latin typeface="Georgia"/>
              </a:rPr>
              <a:t>(~30%): immune system attacks the transplanted organ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333333"/>
                </a:solidFill>
                <a:latin typeface="Georgia"/>
              </a:rPr>
              <a:t>Current diagnosis: biopsy </a:t>
            </a:r>
            <a:r>
              <a:rPr sz="1400">
                <a:solidFill>
                  <a:srgbClr val="333333"/>
                </a:solidFill>
                <a:latin typeface="Georgia"/>
              </a:rPr>
              <a:t>— invasive, carries complication risk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333333"/>
                </a:solidFill>
                <a:latin typeface="Georgia"/>
              </a:rPr>
              <a:t>Ultrasound </a:t>
            </a:r>
            <a:r>
              <a:rPr sz="1400">
                <a:solidFill>
                  <a:srgbClr val="333333"/>
                </a:solidFill>
                <a:latin typeface="Georgia"/>
              </a:rPr>
              <a:t>already used for monitoring — non-invasive, cheap, repeatable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0"/>
            <a:ext cx="4754880" cy="1005840"/>
          </a:xfrm>
          <a:prstGeom prst="rect">
            <a:avLst/>
          </a:prstGeom>
          <a:solidFill>
            <a:srgbClr val="F5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0000"/>
                </a:solidFill>
                <a:latin typeface="Georgia"/>
              </a:defRPr>
            </a:pPr>
            <a:r>
              <a:t>Research question: Can we extract quantitative texture features ("radiomics") from ultrasound and use ML to detect rejection?</a:t>
            </a:r>
          </a:p>
        </p:txBody>
      </p:sp>
      <p:pic>
        <p:nvPicPr>
          <p:cNvPr id="7" name="Picture 6" descr="01_01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28800"/>
            <a:ext cx="3474720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03520" y="4160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Georgia"/>
              </a:defRPr>
            </a:pPr>
            <a:r>
              <a:t>Raw ultrasound</a:t>
            </a:r>
          </a:p>
        </p:txBody>
      </p:sp>
      <p:pic>
        <p:nvPicPr>
          <p:cNvPr id="9" name="Picture 8" descr="01_01_segmented_k3_i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4572000"/>
            <a:ext cx="2560320" cy="1737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6263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Georgia"/>
              </a:defRPr>
            </a:pPr>
            <a:r>
              <a:t>Extracted pancreas ROI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846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504D"/>
                </a:solidFill>
                <a:latin typeface="Georgia"/>
              </a:defRPr>
            </a:pPr>
            <a:r>
              <a:t>Pipeline</a:t>
            </a:r>
            <a:br/>
            <a:r>
              <a:t>   &gt;&gt;&gt;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Georgia"/>
              </a:defRPr>
            </a:pPr>
            <a:r>
              <a:t>Daniel Duhnev  |  EMAI 2024-2026  |  Supervisor: Gemma Piella  |  Spring Event, Ljubljana, April 17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C00000"/>
                </a:solidFill>
                <a:latin typeface="Georgia"/>
              </a:defRPr>
            </a:pPr>
            <a:r>
              <a:t>The Progress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463040"/>
            <a:ext cx="411480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Georgia"/>
              </a:defRPr>
            </a:pPr>
            <a:r>
              <a:t>RADIOMICS (texture features)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Georgia"/>
              </a:defRPr>
            </a:pPr>
            <a:r>
              <a:t>93 features from 134 studies (55 patients)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Georgia"/>
              </a:defRPr>
            </a:pPr>
            <a:r>
              <a:t>Describe pixel patterns: intensity, contrast, homogeneity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33333"/>
                </a:solidFill>
                <a:latin typeface="Georgia"/>
              </a:rPr>
              <a:t>Statistical tests: </a:t>
            </a:r>
            <a:r>
              <a:rPr sz="1200">
                <a:solidFill>
                  <a:srgbClr val="333333"/>
                </a:solidFill>
                <a:latin typeface="Georgia"/>
              </a:rPr>
              <a:t>0/93 significant (p &lt; 0.05)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33333"/>
                </a:solidFill>
                <a:latin typeface="Georgia"/>
              </a:rPr>
              <a:t>ML classifiers: </a:t>
            </a:r>
            <a:r>
              <a:rPr sz="1200">
                <a:solidFill>
                  <a:srgbClr val="333333"/>
                </a:solidFill>
                <a:latin typeface="Georgia"/>
              </a:rPr>
              <a:t>AUC = 0.5 (random chance)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4114800" cy="411480"/>
          </a:xfrm>
          <a:prstGeom prst="rect">
            <a:avLst/>
          </a:prstGeom>
          <a:solidFill>
            <a:srgbClr val="FA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8587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0000"/>
                </a:solidFill>
                <a:latin typeface="Georgia"/>
              </a:defRPr>
            </a:pPr>
            <a:r>
              <a:t>Texture alone does NOT predict rejection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463040"/>
            <a:ext cx="4114800" cy="365760"/>
          </a:xfrm>
          <a:prstGeom prst="rect">
            <a:avLst/>
          </a:prstGeom>
          <a:solidFill>
            <a:srgbClr val="27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46304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Georgia"/>
              </a:defRPr>
            </a:pPr>
            <a:r>
              <a:t>CLINICAL BIOMARKERS (replication)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2024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Georgia"/>
              </a:defRPr>
            </a:pPr>
            <a:r>
              <a:t>Replicated Bassaganyas et al. (Eur Radiology, 2025)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33333"/>
                </a:solidFill>
                <a:latin typeface="Georgia"/>
              </a:rPr>
              <a:t>ARFI elastography </a:t>
            </a:r>
            <a:r>
              <a:rPr sz="1200">
                <a:solidFill>
                  <a:srgbClr val="333333"/>
                </a:solidFill>
                <a:latin typeface="Georgia"/>
              </a:rPr>
              <a:t>(stiffness): p &lt; 0.0001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33333"/>
                </a:solidFill>
                <a:latin typeface="Georgia"/>
              </a:rPr>
              <a:t>DCE-US perfusion </a:t>
            </a:r>
            <a:r>
              <a:rPr sz="1200">
                <a:solidFill>
                  <a:srgbClr val="333333"/>
                </a:solidFill>
                <a:latin typeface="Georgia"/>
              </a:rPr>
              <a:t>(blood flow): 3 features significant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33333"/>
                </a:solidFill>
                <a:latin typeface="Georgia"/>
              </a:rPr>
              <a:t>Replication: </a:t>
            </a:r>
            <a:r>
              <a:rPr sz="1200">
                <a:solidFill>
                  <a:srgbClr val="333333"/>
                </a:solidFill>
                <a:latin typeface="Georgia"/>
              </a:rPr>
              <a:t>p-values match to 3 decimal places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3840480"/>
            <a:ext cx="4114800" cy="411480"/>
          </a:xfrm>
          <a:prstGeom prst="rect">
            <a:avLst/>
          </a:prstGeom>
          <a:solidFill>
            <a:srgbClr val="E5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38587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7A45"/>
                </a:solidFill>
                <a:latin typeface="Georgia"/>
              </a:defRPr>
            </a:pPr>
            <a:r>
              <a:t>Clinical biomarkers DO predict rejection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480560"/>
            <a:ext cx="8503920" cy="1280160"/>
          </a:xfrm>
          <a:prstGeom prst="rect">
            <a:avLst/>
          </a:prstGeom>
          <a:solidFill>
            <a:srgbClr val="F5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52628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Georgia"/>
              </a:defRPr>
            </a:pPr>
            <a:r>
              <a:t>Key insight: The negative result IS the contribution. Generic texture analysis cannot capture what specialized measurements (stiffness, blood flow) can. The exact replication confirms our pipeline is correct — the null result is real, not a bug.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Georgia"/>
              </a:defRPr>
            </a:pPr>
            <a:r>
              <a:t>Pipeline: DICOM images &gt; contour removal &gt; mask erosion &gt; PyRadiomics (93 features) &gt; Shapiro-Wilk &gt; Mann-Whitney U / Welch's t-test &gt; BH-FDR correction &gt; LogReg + Random Forest (stratified 5-fold CV)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Georgia"/>
              </a:defRPr>
            </a:pPr>
            <a:r>
              <a:t>Daniel Duhnev  |  EMAI 2024-2026  |  Supervisor: Gemma Piella  |  Spring Event, Ljubljana, April 17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C00000"/>
                </a:solidFill>
                <a:latin typeface="Georgia"/>
              </a:defRPr>
            </a:pPr>
            <a:r>
              <a:t>The Future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463040"/>
            <a:ext cx="502920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Georgia"/>
              </a:defRPr>
            </a:pPr>
            <a:r>
              <a:t>ONGOING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333333"/>
                </a:solidFill>
                <a:latin typeface="Georgia"/>
              </a:rPr>
              <a:t>Paired analysis: </a:t>
            </a:r>
            <a:r>
              <a:rPr sz="1200">
                <a:solidFill>
                  <a:srgbClr val="333333"/>
                </a:solidFill>
                <a:latin typeface="Georgia"/>
              </a:rPr>
              <a:t>14 patients with both outcomes — each as their own control (Wilcoxon signed-rank test)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33333"/>
                </a:solidFill>
                <a:latin typeface="Georgia"/>
              </a:rPr>
              <a:t>ML improvements: </a:t>
            </a:r>
            <a:r>
              <a:rPr sz="1200">
                <a:solidFill>
                  <a:srgbClr val="333333"/>
                </a:solidFill>
                <a:latin typeface="Georgia"/>
              </a:rPr>
              <a:t>training vs test metrics for overfitting diagnosis; recursive feature elimination (RFE)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33333"/>
                </a:solidFill>
                <a:latin typeface="Georgia"/>
              </a:rPr>
              <a:t>Alternative features: </a:t>
            </a:r>
            <a:r>
              <a:rPr sz="1200">
                <a:solidFill>
                  <a:srgbClr val="333333"/>
                </a:solidFill>
                <a:latin typeface="Georgia"/>
              </a:rPr>
              <a:t>Local Binary Patterns, Gabor filters, Laws' energy — beyond standard radiomics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33333"/>
                </a:solidFill>
                <a:latin typeface="Georgia"/>
              </a:rPr>
              <a:t>Surrounding tissue: </a:t>
            </a:r>
            <a:r>
              <a:rPr sz="1200">
                <a:solidFill>
                  <a:srgbClr val="333333"/>
                </a:solidFill>
                <a:latin typeface="Georgia"/>
              </a:rPr>
              <a:t>normalize for scanner variability; test contrast between pancreas and surrounding region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1463040"/>
            <a:ext cx="320040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0" y="146304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Georgia"/>
              </a:defRPr>
            </a:pPr>
            <a:r>
              <a:t>TIMELINE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2011680"/>
            <a:ext cx="118872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201168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Georgia"/>
              </a:defRPr>
            </a:pPr>
            <a:r>
              <a:t>Apr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0116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Georgia"/>
              </a:defRPr>
            </a:pPr>
            <a:r>
              <a:t>New experiments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2560320"/>
            <a:ext cx="118872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25603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Georgia"/>
              </a:defRPr>
            </a:pPr>
            <a:r>
              <a:t>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560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Georgia"/>
              </a:defRPr>
            </a:pPr>
            <a:r>
              <a:t>Results + Introduction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3108960"/>
            <a:ext cx="118872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310896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Georgia"/>
              </a:defRPr>
            </a:pPr>
            <a:r>
              <a:t>Jun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1089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Georgia"/>
              </a:defRPr>
            </a:pPr>
            <a:r>
              <a:t>First complete draft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3657599"/>
            <a:ext cx="118872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3657599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Georgia"/>
              </a:defRPr>
            </a:pPr>
            <a:r>
              <a:t>Jul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65759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Georgia"/>
              </a:defRPr>
            </a:pPr>
            <a:r>
              <a:t>Submission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4206240"/>
            <a:ext cx="118872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420624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Georgia"/>
              </a:defRPr>
            </a:pPr>
            <a:r>
              <a:t>Aug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2062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Georgia"/>
              </a:defRPr>
            </a:pPr>
            <a:r>
              <a:t>Defense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486400"/>
            <a:ext cx="8503920" cy="731520"/>
          </a:xfrm>
          <a:prstGeom prst="rect">
            <a:avLst/>
          </a:prstGeom>
          <a:solidFill>
            <a:srgbClr val="F5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Georgia"/>
              </a:defRPr>
            </a:pPr>
            <a:r>
              <a:t>Broader impact: Targeted biomarkers outperform generic texture analysis. This narrows the search space for non-invasive rejection monitoring and guides where future research should focus.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Georgia"/>
              </a:defRPr>
            </a:pPr>
            <a:r>
              <a:t>Daniel Duhnev  |  EMAI 2024-2026  |  Supervisor: Gemma Piella  |  Spring Event, Ljubljana, April 17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PF">
  <a:themeElements>
    <a:clrScheme name="Nova marca UPF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C0000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ersonalizado 1">
      <a:majorFont>
        <a:latin typeface="Georgia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ema de Office 1">
        <a:dk1>
          <a:srgbClr val="333333"/>
        </a:dk1>
        <a:lt1>
          <a:srgbClr val="BAB9A0"/>
        </a:lt1>
        <a:dk2>
          <a:srgbClr val="000000"/>
        </a:dk2>
        <a:lt2>
          <a:srgbClr val="333329"/>
        </a:lt2>
        <a:accent1>
          <a:srgbClr val="F4F3D9"/>
        </a:accent1>
        <a:accent2>
          <a:srgbClr val="E09142"/>
        </a:accent2>
        <a:accent3>
          <a:srgbClr val="D9D9CD"/>
        </a:accent3>
        <a:accent4>
          <a:srgbClr val="2A2A2A"/>
        </a:accent4>
        <a:accent5>
          <a:srgbClr val="F8F8E9"/>
        </a:accent5>
        <a:accent6>
          <a:srgbClr val="CB833B"/>
        </a:accent6>
        <a:hlink>
          <a:srgbClr val="AE4828"/>
        </a:hlink>
        <a:folHlink>
          <a:srgbClr val="6A695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2">
        <a:dk1>
          <a:srgbClr val="333333"/>
        </a:dk1>
        <a:lt1>
          <a:srgbClr val="BDB9BF"/>
        </a:lt1>
        <a:dk2>
          <a:srgbClr val="000000"/>
        </a:dk2>
        <a:lt2>
          <a:srgbClr val="333329"/>
        </a:lt2>
        <a:accent1>
          <a:srgbClr val="F4F3D9"/>
        </a:accent1>
        <a:accent2>
          <a:srgbClr val="E09142"/>
        </a:accent2>
        <a:accent3>
          <a:srgbClr val="DBD9DC"/>
        </a:accent3>
        <a:accent4>
          <a:srgbClr val="2A2A2A"/>
        </a:accent4>
        <a:accent5>
          <a:srgbClr val="F8F8E9"/>
        </a:accent5>
        <a:accent6>
          <a:srgbClr val="CB833B"/>
        </a:accent6>
        <a:hlink>
          <a:srgbClr val="AE4828"/>
        </a:hlink>
        <a:folHlink>
          <a:srgbClr val="6A695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3">
        <a:dk1>
          <a:srgbClr val="3D3D3D"/>
        </a:dk1>
        <a:lt1>
          <a:srgbClr val="EAEAEA"/>
        </a:lt1>
        <a:dk2>
          <a:srgbClr val="000000"/>
        </a:dk2>
        <a:lt2>
          <a:srgbClr val="333333"/>
        </a:lt2>
        <a:accent1>
          <a:srgbClr val="FFFFFF"/>
        </a:accent1>
        <a:accent2>
          <a:srgbClr val="969696"/>
        </a:accent2>
        <a:accent3>
          <a:srgbClr val="F3F3F3"/>
        </a:accent3>
        <a:accent4>
          <a:srgbClr val="333333"/>
        </a:accent4>
        <a:accent5>
          <a:srgbClr val="FFFFFF"/>
        </a:accent5>
        <a:accent6>
          <a:srgbClr val="878787"/>
        </a:accent6>
        <a:hlink>
          <a:srgbClr val="4D4D4D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UPF">
  <a:themeElements>
    <a:clrScheme name="Nova marca UPF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C0000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ersonalizado 1">
      <a:majorFont>
        <a:latin typeface="Georgia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ema de Office 1">
        <a:dk1>
          <a:srgbClr val="333333"/>
        </a:dk1>
        <a:lt1>
          <a:srgbClr val="BAB9A0"/>
        </a:lt1>
        <a:dk2>
          <a:srgbClr val="000000"/>
        </a:dk2>
        <a:lt2>
          <a:srgbClr val="333329"/>
        </a:lt2>
        <a:accent1>
          <a:srgbClr val="F4F3D9"/>
        </a:accent1>
        <a:accent2>
          <a:srgbClr val="E09142"/>
        </a:accent2>
        <a:accent3>
          <a:srgbClr val="D9D9CD"/>
        </a:accent3>
        <a:accent4>
          <a:srgbClr val="2A2A2A"/>
        </a:accent4>
        <a:accent5>
          <a:srgbClr val="F8F8E9"/>
        </a:accent5>
        <a:accent6>
          <a:srgbClr val="CB833B"/>
        </a:accent6>
        <a:hlink>
          <a:srgbClr val="AE4828"/>
        </a:hlink>
        <a:folHlink>
          <a:srgbClr val="6A695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2">
        <a:dk1>
          <a:srgbClr val="333333"/>
        </a:dk1>
        <a:lt1>
          <a:srgbClr val="BDB9BF"/>
        </a:lt1>
        <a:dk2>
          <a:srgbClr val="000000"/>
        </a:dk2>
        <a:lt2>
          <a:srgbClr val="333329"/>
        </a:lt2>
        <a:accent1>
          <a:srgbClr val="F4F3D9"/>
        </a:accent1>
        <a:accent2>
          <a:srgbClr val="E09142"/>
        </a:accent2>
        <a:accent3>
          <a:srgbClr val="DBD9DC"/>
        </a:accent3>
        <a:accent4>
          <a:srgbClr val="2A2A2A"/>
        </a:accent4>
        <a:accent5>
          <a:srgbClr val="F8F8E9"/>
        </a:accent5>
        <a:accent6>
          <a:srgbClr val="CB833B"/>
        </a:accent6>
        <a:hlink>
          <a:srgbClr val="AE4828"/>
        </a:hlink>
        <a:folHlink>
          <a:srgbClr val="6A695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3">
        <a:dk1>
          <a:srgbClr val="3D3D3D"/>
        </a:dk1>
        <a:lt1>
          <a:srgbClr val="EAEAEA"/>
        </a:lt1>
        <a:dk2>
          <a:srgbClr val="000000"/>
        </a:dk2>
        <a:lt2>
          <a:srgbClr val="333333"/>
        </a:lt2>
        <a:accent1>
          <a:srgbClr val="FFFFFF"/>
        </a:accent1>
        <a:accent2>
          <a:srgbClr val="969696"/>
        </a:accent2>
        <a:accent3>
          <a:srgbClr val="F3F3F3"/>
        </a:accent3>
        <a:accent4>
          <a:srgbClr val="333333"/>
        </a:accent4>
        <a:accent5>
          <a:srgbClr val="FFFFFF"/>
        </a:accent5>
        <a:accent6>
          <a:srgbClr val="878787"/>
        </a:accent6>
        <a:hlink>
          <a:srgbClr val="4D4D4D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59</Words>
  <Application>Microsoft Office PowerPoint</Application>
  <PresentationFormat>Presentación en pantalla (4:3)</PresentationFormat>
  <Paragraphs>10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diapositiva</vt:lpstr>
      </vt:variant>
      <vt:variant>
        <vt:i4>3</vt:i4>
      </vt:variant>
    </vt:vector>
  </HeadingPairs>
  <TitlesOfParts>
    <vt:vector size="5" baseType="lpstr">
      <vt:lpstr>UPF</vt:lpstr>
      <vt:lpstr>1_UPF</vt:lpstr>
      <vt:lpstr>Diapositiva 1</vt:lpstr>
      <vt:lpstr>Diapositiva 2</vt:lpstr>
      <vt:lpstr>Diapositiva 3</vt:lpstr>
    </vt:vector>
  </TitlesOfParts>
  <Company>Universitat Pompeu Fabra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UPF</dc:creator>
  <cp:lastModifiedBy>UPF</cp:lastModifiedBy>
  <cp:revision>5</cp:revision>
  <dcterms:created xsi:type="dcterms:W3CDTF">2013-02-26T10:24:40Z</dcterms:created>
  <dcterms:modified xsi:type="dcterms:W3CDTF">2013-02-26T11:03:48Z</dcterms:modified>
</cp:coreProperties>
</file>