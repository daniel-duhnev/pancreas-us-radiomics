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392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33"/>
  </p:normalViewPr>
  <p:slideViewPr>
    <p:cSldViewPr snapToGrid="0" snapToObjects="1">
      <p:cViewPr varScale="1">
        <p:scale>
          <a:sx n="95" d="100"/>
          <a:sy n="95" d="100"/>
        </p:scale>
        <p:origin x="200" y="6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latin typeface="Calibri"/>
              </a:defRPr>
            </a:pPr>
            <a:r>
              <a:t>The Problem: Detecting Pancreas Transplant Rejection</a:t>
            </a:r>
          </a:p>
        </p:txBody>
      </p:sp>
      <p:sp>
        <p:nvSpPr>
          <p:cNvPr id="4" name="TextBox 3"/>
          <p:cNvSpPr txBox="1"/>
          <p:nvPr/>
        </p:nvSpPr>
        <p:spPr>
          <a:xfrm>
            <a:off x="548640" y="685800"/>
            <a:ext cx="9144000" cy="365760"/>
          </a:xfrm>
          <a:prstGeom prst="rect">
            <a:avLst/>
          </a:prstGeom>
          <a:noFill/>
        </p:spPr>
        <p:txBody>
          <a:bodyPr wrap="square">
            <a:spAutoFit/>
          </a:bodyPr>
          <a:lstStyle/>
          <a:p>
            <a:pPr algn="l">
              <a:defRPr sz="1400" b="0">
                <a:solidFill>
                  <a:srgbClr val="A0C0E0"/>
                </a:solidFill>
                <a:latin typeface="Calibri"/>
              </a:defRPr>
            </a:pPr>
            <a:r>
              <a:t>Daniel Duhnev  |  EMAI 2024-2026  |  Supervisor: Gemma Piella (UPF)</a:t>
            </a:r>
          </a:p>
        </p:txBody>
      </p:sp>
      <p:sp>
        <p:nvSpPr>
          <p:cNvPr id="5" name="TextBox 4"/>
          <p:cNvSpPr txBox="1"/>
          <p:nvPr/>
        </p:nvSpPr>
        <p:spPr>
          <a:xfrm>
            <a:off x="10972800" y="274320"/>
            <a:ext cx="914400" cy="457200"/>
          </a:xfrm>
          <a:prstGeom prst="rect">
            <a:avLst/>
          </a:prstGeom>
          <a:noFill/>
        </p:spPr>
        <p:txBody>
          <a:bodyPr wrap="square">
            <a:spAutoFit/>
          </a:bodyPr>
          <a:lstStyle/>
          <a:p>
            <a:pPr algn="r">
              <a:defRPr sz="2000" b="0">
                <a:solidFill>
                  <a:srgbClr val="80A0C0"/>
                </a:solidFill>
                <a:latin typeface="Calibri"/>
              </a:defRPr>
            </a:pPr>
            <a:r>
              <a:t>1/3</a:t>
            </a:r>
          </a:p>
        </p:txBody>
      </p:sp>
      <p:sp>
        <p:nvSpPr>
          <p:cNvPr id="6" name="TextBox 5"/>
          <p:cNvSpPr txBox="1"/>
          <p:nvPr/>
        </p:nvSpPr>
        <p:spPr>
          <a:xfrm>
            <a:off x="548640" y="6446520"/>
            <a:ext cx="10972800" cy="320040"/>
          </a:xfrm>
          <a:prstGeom prst="rect">
            <a:avLst/>
          </a:prstGeom>
          <a:noFill/>
        </p:spPr>
        <p:txBody>
          <a:bodyPr wrap="square">
            <a:spAutoFit/>
          </a:bodyPr>
          <a:lstStyle/>
          <a:p>
            <a:pPr algn="ctr">
              <a:defRPr sz="1100" b="0">
                <a:solidFill>
                  <a:srgbClr val="606060"/>
                </a:solidFill>
                <a:latin typeface="Calibri"/>
              </a:defRPr>
            </a:pPr>
            <a:r>
              <a:t>EMAI Spring Event 2026  |  Ljubljana  |  April 17, 2026</a:t>
            </a:r>
          </a:p>
        </p:txBody>
      </p:sp>
      <p:sp>
        <p:nvSpPr>
          <p:cNvPr id="7" name="TextBox 6"/>
          <p:cNvSpPr txBox="1"/>
          <p:nvPr/>
        </p:nvSpPr>
        <p:spPr>
          <a:xfrm>
            <a:off x="548640" y="1371600"/>
            <a:ext cx="5943600" cy="3200400"/>
          </a:xfrm>
          <a:prstGeom prst="rect">
            <a:avLst/>
          </a:prstGeom>
          <a:noFill/>
        </p:spPr>
        <p:txBody>
          <a:bodyPr wrap="square">
            <a:spAutoFit/>
          </a:bodyPr>
          <a:lstStyle/>
          <a:p>
            <a:pPr>
              <a:spcAft>
                <a:spcPts val="720"/>
              </a:spcAft>
              <a:defRPr sz="1800">
                <a:solidFill>
                  <a:srgbClr val="202020"/>
                </a:solidFill>
                <a:latin typeface="Calibri"/>
              </a:defRPr>
            </a:pPr>
            <a:r>
              <a:rPr sz="1800" b="1">
                <a:solidFill>
                  <a:srgbClr val="202020"/>
                </a:solidFill>
                <a:latin typeface="Calibri"/>
              </a:rPr>
              <a:t>Pancreas transplantation </a:t>
            </a:r>
            <a:r>
              <a:rPr sz="1800">
                <a:solidFill>
                  <a:srgbClr val="202020"/>
                </a:solidFill>
                <a:latin typeface="Calibri"/>
              </a:rPr>
              <a:t>treats severe Type 1 diabetes</a:t>
            </a:r>
          </a:p>
          <a:p>
            <a:pPr>
              <a:spcAft>
                <a:spcPts val="720"/>
              </a:spcAft>
              <a:defRPr sz="1800">
                <a:solidFill>
                  <a:srgbClr val="202020"/>
                </a:solidFill>
                <a:latin typeface="Calibri"/>
              </a:defRPr>
            </a:pPr>
            <a:r>
              <a:rPr sz="1800" b="1">
                <a:solidFill>
                  <a:srgbClr val="202020"/>
                </a:solidFill>
                <a:latin typeface="Calibri"/>
              </a:rPr>
              <a:t>Graft rejection: </a:t>
            </a:r>
            <a:r>
              <a:rPr sz="1800">
                <a:solidFill>
                  <a:srgbClr val="202020"/>
                </a:solidFill>
                <a:latin typeface="Calibri"/>
              </a:rPr>
              <a:t>the immune system attacks the transplanted organ (~30% of cases)</a:t>
            </a:r>
          </a:p>
          <a:p>
            <a:pPr>
              <a:spcAft>
                <a:spcPts val="720"/>
              </a:spcAft>
              <a:defRPr sz="1800">
                <a:solidFill>
                  <a:srgbClr val="202020"/>
                </a:solidFill>
                <a:latin typeface="Calibri"/>
              </a:defRPr>
            </a:pPr>
            <a:r>
              <a:rPr sz="1800" b="1">
                <a:solidFill>
                  <a:srgbClr val="202020"/>
                </a:solidFill>
                <a:latin typeface="Calibri"/>
              </a:rPr>
              <a:t>Current diagnosis: biopsy </a:t>
            </a:r>
            <a:r>
              <a:rPr sz="1800">
                <a:solidFill>
                  <a:srgbClr val="202020"/>
                </a:solidFill>
                <a:latin typeface="Calibri"/>
              </a:rPr>
              <a:t>(needle into the organ — invasive, risky)</a:t>
            </a:r>
          </a:p>
          <a:p>
            <a:pPr>
              <a:spcAft>
                <a:spcPts val="720"/>
              </a:spcAft>
              <a:defRPr sz="1800">
                <a:solidFill>
                  <a:srgbClr val="202020"/>
                </a:solidFill>
                <a:latin typeface="Calibri"/>
              </a:defRPr>
            </a:pPr>
            <a:r>
              <a:rPr sz="1800" b="1">
                <a:solidFill>
                  <a:srgbClr val="202020"/>
                </a:solidFill>
                <a:latin typeface="Calibri"/>
              </a:rPr>
              <a:t>Ultrasound </a:t>
            </a:r>
            <a:r>
              <a:rPr sz="1800">
                <a:solidFill>
                  <a:srgbClr val="202020"/>
                </a:solidFill>
                <a:latin typeface="Calibri"/>
              </a:rPr>
              <a:t>is already used for routine monitoring — non-invasive, cheap, repeatable</a:t>
            </a:r>
          </a:p>
        </p:txBody>
      </p:sp>
      <p:sp>
        <p:nvSpPr>
          <p:cNvPr id="8" name="Rectangle 7"/>
          <p:cNvSpPr/>
          <p:nvPr/>
        </p:nvSpPr>
        <p:spPr>
          <a:xfrm>
            <a:off x="548640" y="4572000"/>
            <a:ext cx="5943600" cy="100584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617720"/>
            <a:ext cx="5577840" cy="914400"/>
          </a:xfrm>
          <a:prstGeom prst="rect">
            <a:avLst/>
          </a:prstGeom>
          <a:noFill/>
        </p:spPr>
        <p:txBody>
          <a:bodyPr wrap="square">
            <a:spAutoFit/>
          </a:bodyPr>
          <a:lstStyle/>
          <a:p>
            <a:pPr algn="l">
              <a:defRPr sz="1600" b="1">
                <a:solidFill>
                  <a:srgbClr val="1B3A5C"/>
                </a:solidFill>
                <a:latin typeface="Calibri"/>
              </a:defRPr>
            </a:pPr>
            <a:r>
              <a:rPr dirty="0"/>
              <a:t>Research question: Can we extract quantitative texture features ("radiomics") from ultrasound images and use machine learning to detect rejection automatically?</a:t>
            </a:r>
          </a:p>
        </p:txBody>
      </p:sp>
      <p:pic>
        <p:nvPicPr>
          <p:cNvPr id="10" name="Picture 9" descr="01_01_image.png"/>
          <p:cNvPicPr>
            <a:picLocks noChangeAspect="1"/>
          </p:cNvPicPr>
          <p:nvPr/>
        </p:nvPicPr>
        <p:blipFill>
          <a:blip r:embed="rId2"/>
          <a:stretch>
            <a:fillRect/>
          </a:stretch>
        </p:blipFill>
        <p:spPr>
          <a:xfrm>
            <a:off x="6949440" y="1371600"/>
            <a:ext cx="4663440" cy="3200400"/>
          </a:xfrm>
          <a:prstGeom prst="rect">
            <a:avLst/>
          </a:prstGeom>
        </p:spPr>
      </p:pic>
      <p:sp>
        <p:nvSpPr>
          <p:cNvPr id="11" name="TextBox 10"/>
          <p:cNvSpPr txBox="1"/>
          <p:nvPr/>
        </p:nvSpPr>
        <p:spPr>
          <a:xfrm>
            <a:off x="6949440" y="4526280"/>
            <a:ext cx="2194560" cy="274320"/>
          </a:xfrm>
          <a:prstGeom prst="rect">
            <a:avLst/>
          </a:prstGeom>
          <a:noFill/>
        </p:spPr>
        <p:txBody>
          <a:bodyPr wrap="square">
            <a:spAutoFit/>
          </a:bodyPr>
          <a:lstStyle/>
          <a:p>
            <a:pPr algn="l">
              <a:defRPr sz="1200" b="0">
                <a:solidFill>
                  <a:srgbClr val="606060"/>
                </a:solidFill>
                <a:latin typeface="Calibri"/>
              </a:defRPr>
            </a:pPr>
            <a:r>
              <a:t>Raw ultrasound with contour</a:t>
            </a:r>
          </a:p>
        </p:txBody>
      </p:sp>
      <p:pic>
        <p:nvPicPr>
          <p:cNvPr id="12" name="Picture 11" descr="01_01_segmented_k3_i1.png"/>
          <p:cNvPicPr>
            <a:picLocks noChangeAspect="1"/>
          </p:cNvPicPr>
          <p:nvPr/>
        </p:nvPicPr>
        <p:blipFill>
          <a:blip r:embed="rId3"/>
          <a:stretch>
            <a:fillRect/>
          </a:stretch>
        </p:blipFill>
        <p:spPr>
          <a:xfrm>
            <a:off x="9326880" y="4754880"/>
            <a:ext cx="2286000" cy="1554480"/>
          </a:xfrm>
          <a:prstGeom prst="rect">
            <a:avLst/>
          </a:prstGeom>
        </p:spPr>
      </p:pic>
      <p:sp>
        <p:nvSpPr>
          <p:cNvPr id="13" name="TextBox 12"/>
          <p:cNvSpPr txBox="1"/>
          <p:nvPr/>
        </p:nvSpPr>
        <p:spPr>
          <a:xfrm>
            <a:off x="9326880" y="6263640"/>
            <a:ext cx="2286000" cy="274320"/>
          </a:xfrm>
          <a:prstGeom prst="rect">
            <a:avLst/>
          </a:prstGeom>
          <a:noFill/>
        </p:spPr>
        <p:txBody>
          <a:bodyPr wrap="square">
            <a:spAutoFit/>
          </a:bodyPr>
          <a:lstStyle/>
          <a:p>
            <a:pPr algn="l">
              <a:defRPr sz="1200" b="0">
                <a:solidFill>
                  <a:srgbClr val="606060"/>
                </a:solidFill>
                <a:latin typeface="Calibri"/>
              </a:defRPr>
            </a:pPr>
            <a:r>
              <a:t>Extracted pancreas ROI</a:t>
            </a:r>
          </a:p>
        </p:txBody>
      </p:sp>
      <p:sp>
        <p:nvSpPr>
          <p:cNvPr id="14" name="TextBox 13"/>
          <p:cNvSpPr txBox="1"/>
          <p:nvPr/>
        </p:nvSpPr>
        <p:spPr>
          <a:xfrm>
            <a:off x="6949440" y="5029200"/>
            <a:ext cx="2286000" cy="822960"/>
          </a:xfrm>
          <a:prstGeom prst="rect">
            <a:avLst/>
          </a:prstGeom>
          <a:noFill/>
        </p:spPr>
        <p:txBody>
          <a:bodyPr wrap="square">
            <a:spAutoFit/>
          </a:bodyPr>
          <a:lstStyle/>
          <a:p>
            <a:pPr algn="ctr">
              <a:defRPr sz="1300" b="1">
                <a:solidFill>
                  <a:srgbClr val="2E6B9E"/>
                </a:solidFill>
                <a:latin typeface="Calibri"/>
              </a:defRPr>
            </a:pPr>
            <a:r>
              <a:t>Preprocessing</a:t>
            </a:r>
            <a:br/>
            <a:r>
              <a:t>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latin typeface="Calibri"/>
              </a:defRPr>
            </a:pPr>
            <a:r>
              <a:t>The Progress: What Works, What Doesn't</a:t>
            </a:r>
          </a:p>
        </p:txBody>
      </p:sp>
      <p:sp>
        <p:nvSpPr>
          <p:cNvPr id="4" name="TextBox 3"/>
          <p:cNvSpPr txBox="1"/>
          <p:nvPr/>
        </p:nvSpPr>
        <p:spPr>
          <a:xfrm>
            <a:off x="548640" y="685800"/>
            <a:ext cx="9144000" cy="365760"/>
          </a:xfrm>
          <a:prstGeom prst="rect">
            <a:avLst/>
          </a:prstGeom>
          <a:noFill/>
        </p:spPr>
        <p:txBody>
          <a:bodyPr wrap="square">
            <a:spAutoFit/>
          </a:bodyPr>
          <a:lstStyle/>
          <a:p>
            <a:pPr algn="l">
              <a:defRPr sz="1400" b="0">
                <a:solidFill>
                  <a:srgbClr val="A0C0E0"/>
                </a:solidFill>
                <a:latin typeface="Calibri"/>
              </a:defRPr>
            </a:pPr>
            <a:r>
              <a:t>Daniel Duhnev  |  EMAI 2024-2026  |  Supervisor: Gemma Piella (UPF)</a:t>
            </a:r>
          </a:p>
        </p:txBody>
      </p:sp>
      <p:sp>
        <p:nvSpPr>
          <p:cNvPr id="5" name="TextBox 4"/>
          <p:cNvSpPr txBox="1"/>
          <p:nvPr/>
        </p:nvSpPr>
        <p:spPr>
          <a:xfrm>
            <a:off x="10972800" y="274320"/>
            <a:ext cx="914400" cy="457200"/>
          </a:xfrm>
          <a:prstGeom prst="rect">
            <a:avLst/>
          </a:prstGeom>
          <a:noFill/>
        </p:spPr>
        <p:txBody>
          <a:bodyPr wrap="square">
            <a:spAutoFit/>
          </a:bodyPr>
          <a:lstStyle/>
          <a:p>
            <a:pPr algn="r">
              <a:defRPr sz="2000" b="0">
                <a:solidFill>
                  <a:srgbClr val="80A0C0"/>
                </a:solidFill>
                <a:latin typeface="Calibri"/>
              </a:defRPr>
            </a:pPr>
            <a:r>
              <a:t>2/3</a:t>
            </a:r>
          </a:p>
        </p:txBody>
      </p:sp>
      <p:sp>
        <p:nvSpPr>
          <p:cNvPr id="6" name="TextBox 5"/>
          <p:cNvSpPr txBox="1"/>
          <p:nvPr/>
        </p:nvSpPr>
        <p:spPr>
          <a:xfrm>
            <a:off x="548640" y="6446520"/>
            <a:ext cx="10972800" cy="320040"/>
          </a:xfrm>
          <a:prstGeom prst="rect">
            <a:avLst/>
          </a:prstGeom>
          <a:noFill/>
        </p:spPr>
        <p:txBody>
          <a:bodyPr wrap="square">
            <a:spAutoFit/>
          </a:bodyPr>
          <a:lstStyle/>
          <a:p>
            <a:pPr algn="ctr">
              <a:defRPr sz="1100" b="0">
                <a:solidFill>
                  <a:srgbClr val="606060"/>
                </a:solidFill>
                <a:latin typeface="Calibri"/>
              </a:defRPr>
            </a:pPr>
            <a:r>
              <a:t>EMAI Spring Event 2026  |  Ljubljana  |  April 17, 2026</a:t>
            </a:r>
          </a:p>
        </p:txBody>
      </p:sp>
      <p:sp>
        <p:nvSpPr>
          <p:cNvPr id="7" name="Rectangle 6"/>
          <p:cNvSpPr/>
          <p:nvPr/>
        </p:nvSpPr>
        <p:spPr>
          <a:xfrm>
            <a:off x="365760" y="1280160"/>
            <a:ext cx="548640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98448"/>
            <a:ext cx="5120640" cy="457200"/>
          </a:xfrm>
          <a:prstGeom prst="rect">
            <a:avLst/>
          </a:prstGeom>
          <a:noFill/>
        </p:spPr>
        <p:txBody>
          <a:bodyPr wrap="square">
            <a:spAutoFit/>
          </a:bodyPr>
          <a:lstStyle/>
          <a:p>
            <a:pPr algn="l">
              <a:defRPr sz="1800" b="1">
                <a:solidFill>
                  <a:srgbClr val="FFFFFF"/>
                </a:solidFill>
                <a:latin typeface="Calibri"/>
              </a:defRPr>
            </a:pPr>
            <a:r>
              <a:rPr dirty="0"/>
              <a:t>RADIOMICS TEXTURE FEATURES</a:t>
            </a:r>
          </a:p>
        </p:txBody>
      </p:sp>
      <p:sp>
        <p:nvSpPr>
          <p:cNvPr id="9" name="TextBox 8"/>
          <p:cNvSpPr txBox="1"/>
          <p:nvPr/>
        </p:nvSpPr>
        <p:spPr>
          <a:xfrm>
            <a:off x="548640" y="1920240"/>
            <a:ext cx="5303520" cy="2286000"/>
          </a:xfrm>
          <a:prstGeom prst="rect">
            <a:avLst/>
          </a:prstGeom>
          <a:noFill/>
        </p:spPr>
        <p:txBody>
          <a:bodyPr wrap="square">
            <a:spAutoFit/>
          </a:bodyPr>
          <a:lstStyle/>
          <a:p>
            <a:pPr>
              <a:spcAft>
                <a:spcPts val="600"/>
              </a:spcAft>
              <a:defRPr sz="1500">
                <a:solidFill>
                  <a:srgbClr val="202020"/>
                </a:solidFill>
                <a:latin typeface="Calibri"/>
              </a:defRPr>
            </a:pPr>
            <a:r>
              <a:t>93 texture features extracted from 134 ultrasound studies (55 patients)</a:t>
            </a:r>
          </a:p>
          <a:p>
            <a:pPr>
              <a:spcAft>
                <a:spcPts val="600"/>
              </a:spcAft>
              <a:defRPr sz="1500">
                <a:solidFill>
                  <a:srgbClr val="202020"/>
                </a:solidFill>
                <a:latin typeface="Calibri"/>
              </a:defRPr>
            </a:pPr>
            <a:r>
              <a:t>Features describe pixel patterns: intensity, contrast, homogeneity, etc.</a:t>
            </a:r>
          </a:p>
          <a:p>
            <a:pPr>
              <a:spcAft>
                <a:spcPts val="600"/>
              </a:spcAft>
              <a:defRPr sz="1500">
                <a:solidFill>
                  <a:srgbClr val="202020"/>
                </a:solidFill>
                <a:latin typeface="Calibri"/>
              </a:defRPr>
            </a:pPr>
            <a:r>
              <a:rPr sz="1500" b="1">
                <a:solidFill>
                  <a:srgbClr val="202020"/>
                </a:solidFill>
                <a:latin typeface="Calibri"/>
              </a:rPr>
              <a:t>Statistical testing: </a:t>
            </a:r>
            <a:r>
              <a:rPr sz="1500">
                <a:solidFill>
                  <a:srgbClr val="202020"/>
                </a:solidFill>
                <a:latin typeface="Calibri"/>
              </a:rPr>
              <a:t>0 out of 93 features significant (p &lt; 0.05)</a:t>
            </a:r>
          </a:p>
          <a:p>
            <a:pPr>
              <a:spcAft>
                <a:spcPts val="600"/>
              </a:spcAft>
              <a:defRPr sz="1500">
                <a:solidFill>
                  <a:srgbClr val="202020"/>
                </a:solidFill>
                <a:latin typeface="Calibri"/>
              </a:defRPr>
            </a:pPr>
            <a:r>
              <a:rPr sz="1500" b="1">
                <a:solidFill>
                  <a:srgbClr val="202020"/>
                </a:solidFill>
                <a:latin typeface="Calibri"/>
              </a:rPr>
              <a:t>ML classification: </a:t>
            </a:r>
            <a:r>
              <a:rPr sz="1500">
                <a:solidFill>
                  <a:srgbClr val="202020"/>
                </a:solidFill>
                <a:latin typeface="Calibri"/>
              </a:rPr>
              <a:t>AUC = 0.5 — equivalent to random guessing</a:t>
            </a:r>
          </a:p>
        </p:txBody>
      </p:sp>
      <p:sp>
        <p:nvSpPr>
          <p:cNvPr id="10" name="Rectangle 9"/>
          <p:cNvSpPr/>
          <p:nvPr/>
        </p:nvSpPr>
        <p:spPr>
          <a:xfrm>
            <a:off x="548640" y="4023360"/>
            <a:ext cx="5120640" cy="548640"/>
          </a:xfrm>
          <a:prstGeom prst="rect">
            <a:avLst/>
          </a:prstGeom>
          <a:solidFill>
            <a:srgbClr val="FA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041648"/>
            <a:ext cx="4754880" cy="502920"/>
          </a:xfrm>
          <a:prstGeom prst="rect">
            <a:avLst/>
          </a:prstGeom>
          <a:noFill/>
        </p:spPr>
        <p:txBody>
          <a:bodyPr wrap="square">
            <a:spAutoFit/>
          </a:bodyPr>
          <a:lstStyle/>
          <a:p>
            <a:pPr algn="l">
              <a:defRPr sz="1600" b="1">
                <a:solidFill>
                  <a:srgbClr val="C0392B"/>
                </a:solidFill>
                <a:latin typeface="Calibri"/>
              </a:defRPr>
            </a:pPr>
            <a:r>
              <a:t>Ultrasound texture alone does NOT predict rejection</a:t>
            </a:r>
          </a:p>
        </p:txBody>
      </p:sp>
      <p:sp>
        <p:nvSpPr>
          <p:cNvPr id="12" name="TextBox 11"/>
          <p:cNvSpPr txBox="1"/>
          <p:nvPr/>
        </p:nvSpPr>
        <p:spPr>
          <a:xfrm>
            <a:off x="548640" y="4754880"/>
            <a:ext cx="5303520" cy="1371600"/>
          </a:xfrm>
          <a:prstGeom prst="rect">
            <a:avLst/>
          </a:prstGeom>
          <a:noFill/>
        </p:spPr>
        <p:txBody>
          <a:bodyPr wrap="square">
            <a:spAutoFit/>
          </a:bodyPr>
          <a:lstStyle/>
          <a:p>
            <a:pPr algn="l">
              <a:defRPr sz="1200" b="0">
                <a:solidFill>
                  <a:srgbClr val="606060"/>
                </a:solidFill>
                <a:latin typeface="Calibri"/>
              </a:defRPr>
            </a:pPr>
            <a:r>
              <a:t>Pipeline: DICOM images → contour removal → mask erosion → PyRadiomics feature extraction → Shapiro-Wilk normality → Mann-Whitney U / Welch's t-test → Benjamini-Hochberg FDR correction → Logistic Regression + Random Forest with stratified 5-fold CV</a:t>
            </a:r>
          </a:p>
        </p:txBody>
      </p:sp>
      <p:sp>
        <p:nvSpPr>
          <p:cNvPr id="13" name="Rectangle 12"/>
          <p:cNvSpPr/>
          <p:nvPr/>
        </p:nvSpPr>
        <p:spPr>
          <a:xfrm>
            <a:off x="6217920" y="1280160"/>
            <a:ext cx="557784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0000"/>
              </a:solidFill>
            </a:endParaRPr>
          </a:p>
        </p:txBody>
      </p:sp>
      <p:sp>
        <p:nvSpPr>
          <p:cNvPr id="14" name="TextBox 13"/>
          <p:cNvSpPr txBox="1"/>
          <p:nvPr/>
        </p:nvSpPr>
        <p:spPr>
          <a:xfrm>
            <a:off x="6400800" y="1298448"/>
            <a:ext cx="5212080" cy="457200"/>
          </a:xfrm>
          <a:prstGeom prst="rect">
            <a:avLst/>
          </a:prstGeom>
          <a:noFill/>
        </p:spPr>
        <p:txBody>
          <a:bodyPr wrap="square">
            <a:spAutoFit/>
          </a:bodyPr>
          <a:lstStyle/>
          <a:p>
            <a:pPr algn="l">
              <a:defRPr sz="1800" b="1">
                <a:solidFill>
                  <a:srgbClr val="FFFFFF"/>
                </a:solidFill>
                <a:latin typeface="Calibri"/>
              </a:defRPr>
            </a:pPr>
            <a:r>
              <a:rPr dirty="0"/>
              <a:t>CLINICAL IMAGING BIOMARKERS (REPLICATION)</a:t>
            </a:r>
          </a:p>
        </p:txBody>
      </p:sp>
      <p:sp>
        <p:nvSpPr>
          <p:cNvPr id="15" name="TextBox 14"/>
          <p:cNvSpPr txBox="1"/>
          <p:nvPr/>
        </p:nvSpPr>
        <p:spPr>
          <a:xfrm>
            <a:off x="6400800" y="1920240"/>
            <a:ext cx="5303520" cy="2286000"/>
          </a:xfrm>
          <a:prstGeom prst="rect">
            <a:avLst/>
          </a:prstGeom>
          <a:noFill/>
        </p:spPr>
        <p:txBody>
          <a:bodyPr wrap="square">
            <a:spAutoFit/>
          </a:bodyPr>
          <a:lstStyle/>
          <a:p>
            <a:pPr>
              <a:spcAft>
                <a:spcPts val="600"/>
              </a:spcAft>
              <a:defRPr sz="1500">
                <a:solidFill>
                  <a:srgbClr val="202020"/>
                </a:solidFill>
                <a:latin typeface="Calibri"/>
              </a:defRPr>
            </a:pPr>
            <a:r>
              <a:t>Replicated analysis from Bassaganyas et al. (European Radiology, 2025)</a:t>
            </a:r>
          </a:p>
          <a:p>
            <a:pPr>
              <a:spcAft>
                <a:spcPts val="600"/>
              </a:spcAft>
              <a:defRPr sz="1500">
                <a:solidFill>
                  <a:srgbClr val="202020"/>
                </a:solidFill>
                <a:latin typeface="Calibri"/>
              </a:defRPr>
            </a:pPr>
            <a:r>
              <a:rPr sz="1500" b="1">
                <a:solidFill>
                  <a:srgbClr val="202020"/>
                </a:solidFill>
                <a:latin typeface="Calibri"/>
              </a:rPr>
              <a:t>ARFI elastography </a:t>
            </a:r>
            <a:r>
              <a:rPr sz="1500">
                <a:solidFill>
                  <a:srgbClr val="202020"/>
                </a:solidFill>
                <a:latin typeface="Calibri"/>
              </a:rPr>
              <a:t>(measures tissue stiffness): p &lt; 0.0001 in late period (&gt;90 days)</a:t>
            </a:r>
          </a:p>
          <a:p>
            <a:pPr>
              <a:spcAft>
                <a:spcPts val="600"/>
              </a:spcAft>
              <a:defRPr sz="1500">
                <a:solidFill>
                  <a:srgbClr val="202020"/>
                </a:solidFill>
                <a:latin typeface="Calibri"/>
              </a:defRPr>
            </a:pPr>
            <a:r>
              <a:rPr sz="1500" b="1">
                <a:solidFill>
                  <a:srgbClr val="202020"/>
                </a:solidFill>
                <a:latin typeface="Calibri"/>
              </a:rPr>
              <a:t>DCE-US perfusion </a:t>
            </a:r>
            <a:r>
              <a:rPr sz="1500">
                <a:solidFill>
                  <a:srgbClr val="202020"/>
                </a:solidFill>
                <a:latin typeface="Calibri"/>
              </a:rPr>
              <a:t>(blood flow): 3 features significant in late period</a:t>
            </a:r>
          </a:p>
          <a:p>
            <a:pPr>
              <a:spcAft>
                <a:spcPts val="600"/>
              </a:spcAft>
              <a:defRPr sz="1500">
                <a:solidFill>
                  <a:srgbClr val="202020"/>
                </a:solidFill>
                <a:latin typeface="Calibri"/>
              </a:defRPr>
            </a:pPr>
            <a:r>
              <a:rPr sz="1500" b="1">
                <a:solidFill>
                  <a:srgbClr val="202020"/>
                </a:solidFill>
                <a:latin typeface="Calibri"/>
              </a:rPr>
              <a:t>Replication accuracy: </a:t>
            </a:r>
            <a:r>
              <a:rPr sz="1500">
                <a:solidFill>
                  <a:srgbClr val="202020"/>
                </a:solidFill>
                <a:latin typeface="Calibri"/>
              </a:rPr>
              <a:t>our p-values match published results to 3 decimal places</a:t>
            </a:r>
          </a:p>
        </p:txBody>
      </p:sp>
      <p:sp>
        <p:nvSpPr>
          <p:cNvPr id="16" name="Rectangle 15"/>
          <p:cNvSpPr/>
          <p:nvPr/>
        </p:nvSpPr>
        <p:spPr>
          <a:xfrm>
            <a:off x="6400800" y="4023360"/>
            <a:ext cx="5120640" cy="548640"/>
          </a:xfrm>
          <a:prstGeom prst="rect">
            <a:avLst/>
          </a:prstGeom>
          <a:solidFill>
            <a:srgbClr val="E5F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4041648"/>
            <a:ext cx="4754880" cy="502920"/>
          </a:xfrm>
          <a:prstGeom prst="rect">
            <a:avLst/>
          </a:prstGeom>
          <a:noFill/>
        </p:spPr>
        <p:txBody>
          <a:bodyPr wrap="square">
            <a:spAutoFit/>
          </a:bodyPr>
          <a:lstStyle/>
          <a:p>
            <a:pPr algn="l">
              <a:defRPr sz="1600" b="1">
                <a:solidFill>
                  <a:srgbClr val="27AE60"/>
                </a:solidFill>
                <a:latin typeface="Calibri"/>
              </a:defRPr>
            </a:pPr>
            <a:r>
              <a:t>Targeted clinical biomarkers DO predict rejection</a:t>
            </a:r>
          </a:p>
        </p:txBody>
      </p:sp>
      <p:sp>
        <p:nvSpPr>
          <p:cNvPr id="18" name="Rectangle 17"/>
          <p:cNvSpPr/>
          <p:nvPr/>
        </p:nvSpPr>
        <p:spPr>
          <a:xfrm>
            <a:off x="6217920" y="4754880"/>
            <a:ext cx="5577840" cy="12801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4800600"/>
            <a:ext cx="5212080" cy="1188720"/>
          </a:xfrm>
          <a:prstGeom prst="rect">
            <a:avLst/>
          </a:prstGeom>
          <a:noFill/>
        </p:spPr>
        <p:txBody>
          <a:bodyPr wrap="square">
            <a:spAutoFit/>
          </a:bodyPr>
          <a:lstStyle/>
          <a:p>
            <a:pPr algn="l">
              <a:defRPr sz="1400" b="0">
                <a:solidFill>
                  <a:srgbClr val="1B3A5C"/>
                </a:solidFill>
                <a:latin typeface="Calibri"/>
              </a:defRPr>
            </a:pPr>
            <a:r>
              <a:t>Key insight: The negative radiomics result IS the finding. It demonstrates that generic texture analysis cannot capture what specialized measurements (stiffness, blood flow) can. The exact replication of published results confirms our pipeline is correct — the null result is real, not a bug.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9144000" cy="640080"/>
          </a:xfrm>
          <a:prstGeom prst="rect">
            <a:avLst/>
          </a:prstGeom>
          <a:noFill/>
        </p:spPr>
        <p:txBody>
          <a:bodyPr wrap="square">
            <a:spAutoFit/>
          </a:bodyPr>
          <a:lstStyle/>
          <a:p>
            <a:pPr algn="l">
              <a:defRPr sz="3200" b="1">
                <a:solidFill>
                  <a:srgbClr val="FFFFFF"/>
                </a:solidFill>
                <a:latin typeface="Calibri"/>
              </a:defRPr>
            </a:pPr>
            <a:r>
              <a:t>The Future: Next Steps &amp; Timeline</a:t>
            </a:r>
          </a:p>
        </p:txBody>
      </p:sp>
      <p:sp>
        <p:nvSpPr>
          <p:cNvPr id="4" name="TextBox 3"/>
          <p:cNvSpPr txBox="1"/>
          <p:nvPr/>
        </p:nvSpPr>
        <p:spPr>
          <a:xfrm>
            <a:off x="548640" y="685800"/>
            <a:ext cx="9144000" cy="365760"/>
          </a:xfrm>
          <a:prstGeom prst="rect">
            <a:avLst/>
          </a:prstGeom>
          <a:noFill/>
        </p:spPr>
        <p:txBody>
          <a:bodyPr wrap="square">
            <a:spAutoFit/>
          </a:bodyPr>
          <a:lstStyle/>
          <a:p>
            <a:pPr algn="l">
              <a:defRPr sz="1400" b="0">
                <a:solidFill>
                  <a:srgbClr val="A0C0E0"/>
                </a:solidFill>
                <a:latin typeface="Calibri"/>
              </a:defRPr>
            </a:pPr>
            <a:r>
              <a:t>Daniel Duhnev  |  EMAI 2024-2026  |  Supervisor: Gemma Piella (UPF)</a:t>
            </a:r>
          </a:p>
        </p:txBody>
      </p:sp>
      <p:sp>
        <p:nvSpPr>
          <p:cNvPr id="5" name="TextBox 4"/>
          <p:cNvSpPr txBox="1"/>
          <p:nvPr/>
        </p:nvSpPr>
        <p:spPr>
          <a:xfrm>
            <a:off x="10972800" y="274320"/>
            <a:ext cx="914400" cy="457200"/>
          </a:xfrm>
          <a:prstGeom prst="rect">
            <a:avLst/>
          </a:prstGeom>
          <a:noFill/>
        </p:spPr>
        <p:txBody>
          <a:bodyPr wrap="square">
            <a:spAutoFit/>
          </a:bodyPr>
          <a:lstStyle/>
          <a:p>
            <a:pPr algn="r">
              <a:defRPr sz="2000" b="0">
                <a:solidFill>
                  <a:srgbClr val="80A0C0"/>
                </a:solidFill>
                <a:latin typeface="Calibri"/>
              </a:defRPr>
            </a:pPr>
            <a:r>
              <a:t>3/3</a:t>
            </a:r>
          </a:p>
        </p:txBody>
      </p:sp>
      <p:sp>
        <p:nvSpPr>
          <p:cNvPr id="6" name="TextBox 5"/>
          <p:cNvSpPr txBox="1"/>
          <p:nvPr/>
        </p:nvSpPr>
        <p:spPr>
          <a:xfrm>
            <a:off x="548640" y="6446520"/>
            <a:ext cx="10972800" cy="320040"/>
          </a:xfrm>
          <a:prstGeom prst="rect">
            <a:avLst/>
          </a:prstGeom>
          <a:noFill/>
        </p:spPr>
        <p:txBody>
          <a:bodyPr wrap="square">
            <a:spAutoFit/>
          </a:bodyPr>
          <a:lstStyle/>
          <a:p>
            <a:pPr algn="ctr">
              <a:defRPr sz="1100" b="0">
                <a:solidFill>
                  <a:srgbClr val="606060"/>
                </a:solidFill>
                <a:latin typeface="Calibri"/>
              </a:defRPr>
            </a:pPr>
            <a:r>
              <a:t>EMAI Spring Event 2026  |  Ljubljana  |  April 17, 2026</a:t>
            </a:r>
          </a:p>
        </p:txBody>
      </p:sp>
      <p:sp>
        <p:nvSpPr>
          <p:cNvPr id="7" name="Rectangle 6"/>
          <p:cNvSpPr/>
          <p:nvPr/>
        </p:nvSpPr>
        <p:spPr>
          <a:xfrm>
            <a:off x="365760" y="1280160"/>
            <a:ext cx="5760720" cy="457200"/>
          </a:xfrm>
          <a:prstGeom prst="rect">
            <a:avLst/>
          </a:prstGeom>
          <a:solidFill>
            <a:srgbClr val="2E6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98448"/>
            <a:ext cx="5486400" cy="411480"/>
          </a:xfrm>
          <a:prstGeom prst="rect">
            <a:avLst/>
          </a:prstGeom>
          <a:noFill/>
        </p:spPr>
        <p:txBody>
          <a:bodyPr wrap="square">
            <a:spAutoFit/>
          </a:bodyPr>
          <a:lstStyle/>
          <a:p>
            <a:pPr algn="l">
              <a:defRPr sz="1800" b="1">
                <a:solidFill>
                  <a:srgbClr val="FFFFFF"/>
                </a:solidFill>
                <a:latin typeface="Calibri"/>
              </a:defRPr>
            </a:pPr>
            <a:r>
              <a:t>ONGOING EXPERIMENTS</a:t>
            </a:r>
          </a:p>
        </p:txBody>
      </p:sp>
      <p:sp>
        <p:nvSpPr>
          <p:cNvPr id="9" name="TextBox 8"/>
          <p:cNvSpPr txBox="1"/>
          <p:nvPr/>
        </p:nvSpPr>
        <p:spPr>
          <a:xfrm>
            <a:off x="548640" y="1920240"/>
            <a:ext cx="5486400" cy="3657600"/>
          </a:xfrm>
          <a:prstGeom prst="rect">
            <a:avLst/>
          </a:prstGeom>
          <a:noFill/>
        </p:spPr>
        <p:txBody>
          <a:bodyPr wrap="square">
            <a:spAutoFit/>
          </a:bodyPr>
          <a:lstStyle/>
          <a:p>
            <a:pPr>
              <a:spcAft>
                <a:spcPts val="600"/>
              </a:spcAft>
              <a:defRPr sz="1500">
                <a:solidFill>
                  <a:srgbClr val="202020"/>
                </a:solidFill>
                <a:latin typeface="Calibri"/>
              </a:defRPr>
            </a:pPr>
            <a:r>
              <a:rPr sz="1500" b="1">
                <a:solidFill>
                  <a:srgbClr val="202020"/>
                </a:solidFill>
                <a:latin typeface="Calibri"/>
              </a:rPr>
              <a:t>Paired analysis: </a:t>
            </a:r>
            <a:r>
              <a:rPr sz="1500">
                <a:solidFill>
                  <a:srgbClr val="202020"/>
                </a:solidFill>
                <a:latin typeface="Calibri"/>
              </a:rPr>
              <a:t>14 patients have both rejection &amp; non-rejection studies — each patient as their own control (Wilcoxon signed-rank test)</a:t>
            </a:r>
          </a:p>
          <a:p>
            <a:pPr>
              <a:spcAft>
                <a:spcPts val="600"/>
              </a:spcAft>
              <a:defRPr sz="1500">
                <a:solidFill>
                  <a:srgbClr val="202020"/>
                </a:solidFill>
                <a:latin typeface="Calibri"/>
              </a:defRPr>
            </a:pPr>
            <a:r>
              <a:rPr sz="1500" b="1">
                <a:solidFill>
                  <a:srgbClr val="202020"/>
                </a:solidFill>
                <a:latin typeface="Calibri"/>
              </a:rPr>
              <a:t>ML improvements: </a:t>
            </a:r>
            <a:r>
              <a:rPr sz="1500">
                <a:solidFill>
                  <a:srgbClr val="202020"/>
                </a:solidFill>
                <a:latin typeface="Calibri"/>
              </a:rPr>
              <a:t>training vs test metrics to diagnose overfitting, recursive feature elimination (RFE)</a:t>
            </a:r>
          </a:p>
          <a:p>
            <a:pPr>
              <a:spcAft>
                <a:spcPts val="600"/>
              </a:spcAft>
              <a:defRPr sz="1500">
                <a:solidFill>
                  <a:srgbClr val="202020"/>
                </a:solidFill>
                <a:latin typeface="Calibri"/>
              </a:defRPr>
            </a:pPr>
            <a:r>
              <a:rPr sz="1500" b="1">
                <a:solidFill>
                  <a:srgbClr val="202020"/>
                </a:solidFill>
                <a:latin typeface="Calibri"/>
              </a:rPr>
              <a:t>Alternative features: </a:t>
            </a:r>
            <a:r>
              <a:rPr sz="1500">
                <a:solidFill>
                  <a:srgbClr val="202020"/>
                </a:solidFill>
                <a:latin typeface="Calibri"/>
              </a:rPr>
              <a:t>Local Binary Patterns, Gabor filters, Laws' texture energy — methods not in standard radiomics</a:t>
            </a:r>
          </a:p>
          <a:p>
            <a:pPr>
              <a:spcAft>
                <a:spcPts val="600"/>
              </a:spcAft>
              <a:defRPr sz="1500">
                <a:solidFill>
                  <a:srgbClr val="202020"/>
                </a:solidFill>
                <a:latin typeface="Calibri"/>
              </a:defRPr>
            </a:pPr>
            <a:r>
              <a:rPr sz="1500" b="1">
                <a:solidFill>
                  <a:srgbClr val="202020"/>
                </a:solidFill>
                <a:latin typeface="Calibri"/>
              </a:rPr>
              <a:t>Surrounding tissue: </a:t>
            </a:r>
            <a:r>
              <a:rPr sz="1500">
                <a:solidFill>
                  <a:srgbClr val="202020"/>
                </a:solidFill>
                <a:latin typeface="Calibri"/>
              </a:rPr>
              <a:t>use tissue around the pancreas as reference to normalize for machine/scanner variability; test contrast between organ and surroundings</a:t>
            </a:r>
          </a:p>
        </p:txBody>
      </p:sp>
      <p:sp>
        <p:nvSpPr>
          <p:cNvPr id="10" name="Rectangle 9"/>
          <p:cNvSpPr/>
          <p:nvPr/>
        </p:nvSpPr>
        <p:spPr>
          <a:xfrm>
            <a:off x="6492240" y="1280160"/>
            <a:ext cx="5303520" cy="457200"/>
          </a:xfrm>
          <a:prstGeom prst="rect">
            <a:avLst/>
          </a:prstGeom>
          <a:solidFill>
            <a:srgbClr val="2E6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298448"/>
            <a:ext cx="4937760" cy="411480"/>
          </a:xfrm>
          <a:prstGeom prst="rect">
            <a:avLst/>
          </a:prstGeom>
          <a:noFill/>
        </p:spPr>
        <p:txBody>
          <a:bodyPr wrap="square">
            <a:spAutoFit/>
          </a:bodyPr>
          <a:lstStyle/>
          <a:p>
            <a:pPr algn="l">
              <a:defRPr sz="1800" b="1">
                <a:solidFill>
                  <a:srgbClr val="FFFFFF"/>
                </a:solidFill>
                <a:latin typeface="Calibri"/>
              </a:defRPr>
            </a:pPr>
            <a:r>
              <a:t>THESIS TIMELINE</a:t>
            </a:r>
          </a:p>
        </p:txBody>
      </p:sp>
      <p:sp>
        <p:nvSpPr>
          <p:cNvPr id="12" name="Rectangle 11"/>
          <p:cNvSpPr/>
          <p:nvPr/>
        </p:nvSpPr>
        <p:spPr>
          <a:xfrm>
            <a:off x="6675120" y="1965960"/>
            <a:ext cx="1371600"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975960"/>
            <a:ext cx="1371600" cy="365760"/>
          </a:xfrm>
          <a:prstGeom prst="rect">
            <a:avLst/>
          </a:prstGeom>
          <a:noFill/>
        </p:spPr>
        <p:txBody>
          <a:bodyPr wrap="square">
            <a:spAutoFit/>
          </a:bodyPr>
          <a:lstStyle/>
          <a:p>
            <a:pPr algn="ctr">
              <a:defRPr sz="1300" b="1">
                <a:solidFill>
                  <a:srgbClr val="FFFFFF"/>
                </a:solidFill>
                <a:latin typeface="Calibri"/>
              </a:defRPr>
            </a:pPr>
            <a:r>
              <a:t>Apr 2026</a:t>
            </a:r>
          </a:p>
        </p:txBody>
      </p:sp>
      <p:sp>
        <p:nvSpPr>
          <p:cNvPr id="14" name="TextBox 13"/>
          <p:cNvSpPr txBox="1"/>
          <p:nvPr/>
        </p:nvSpPr>
        <p:spPr>
          <a:xfrm>
            <a:off x="8229600" y="1975960"/>
            <a:ext cx="3474720" cy="411480"/>
          </a:xfrm>
          <a:prstGeom prst="rect">
            <a:avLst/>
          </a:prstGeom>
          <a:noFill/>
        </p:spPr>
        <p:txBody>
          <a:bodyPr wrap="square">
            <a:spAutoFit/>
          </a:bodyPr>
          <a:lstStyle/>
          <a:p>
            <a:pPr algn="l">
              <a:defRPr sz="1400" b="0">
                <a:solidFill>
                  <a:srgbClr val="202020"/>
                </a:solidFill>
                <a:latin typeface="Calibri"/>
              </a:defRPr>
            </a:pPr>
            <a:r>
              <a:t>New experiments (paired, alt. features, normalization)</a:t>
            </a:r>
          </a:p>
        </p:txBody>
      </p:sp>
      <p:sp>
        <p:nvSpPr>
          <p:cNvPr id="15" name="Rectangle 14"/>
          <p:cNvSpPr/>
          <p:nvPr/>
        </p:nvSpPr>
        <p:spPr>
          <a:xfrm>
            <a:off x="6675120" y="2606040"/>
            <a:ext cx="1371600"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616040"/>
            <a:ext cx="1371600" cy="365760"/>
          </a:xfrm>
          <a:prstGeom prst="rect">
            <a:avLst/>
          </a:prstGeom>
          <a:noFill/>
        </p:spPr>
        <p:txBody>
          <a:bodyPr wrap="square">
            <a:spAutoFit/>
          </a:bodyPr>
          <a:lstStyle/>
          <a:p>
            <a:pPr algn="ctr">
              <a:defRPr sz="1300" b="1">
                <a:solidFill>
                  <a:srgbClr val="FFFFFF"/>
                </a:solidFill>
                <a:latin typeface="Calibri"/>
              </a:defRPr>
            </a:pPr>
            <a:r>
              <a:t>May 2026</a:t>
            </a:r>
          </a:p>
        </p:txBody>
      </p:sp>
      <p:sp>
        <p:nvSpPr>
          <p:cNvPr id="17" name="TextBox 16"/>
          <p:cNvSpPr txBox="1"/>
          <p:nvPr/>
        </p:nvSpPr>
        <p:spPr>
          <a:xfrm>
            <a:off x="8229600" y="2616040"/>
            <a:ext cx="3474720" cy="411480"/>
          </a:xfrm>
          <a:prstGeom prst="rect">
            <a:avLst/>
          </a:prstGeom>
          <a:noFill/>
        </p:spPr>
        <p:txBody>
          <a:bodyPr wrap="square">
            <a:spAutoFit/>
          </a:bodyPr>
          <a:lstStyle/>
          <a:p>
            <a:pPr algn="l">
              <a:defRPr sz="1400" b="0">
                <a:solidFill>
                  <a:srgbClr val="202020"/>
                </a:solidFill>
                <a:latin typeface="Calibri"/>
              </a:defRPr>
            </a:pPr>
            <a:r>
              <a:t>Results analysis + Introduction chapter</a:t>
            </a:r>
          </a:p>
        </p:txBody>
      </p:sp>
      <p:sp>
        <p:nvSpPr>
          <p:cNvPr id="18" name="Rectangle 17"/>
          <p:cNvSpPr/>
          <p:nvPr/>
        </p:nvSpPr>
        <p:spPr>
          <a:xfrm>
            <a:off x="6675120" y="3246120"/>
            <a:ext cx="1371600"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3256120"/>
            <a:ext cx="1371600" cy="365760"/>
          </a:xfrm>
          <a:prstGeom prst="rect">
            <a:avLst/>
          </a:prstGeom>
          <a:noFill/>
        </p:spPr>
        <p:txBody>
          <a:bodyPr wrap="square">
            <a:spAutoFit/>
          </a:bodyPr>
          <a:lstStyle/>
          <a:p>
            <a:pPr algn="ctr">
              <a:defRPr sz="1300" b="1">
                <a:solidFill>
                  <a:srgbClr val="FFFFFF"/>
                </a:solidFill>
                <a:latin typeface="Calibri"/>
              </a:defRPr>
            </a:pPr>
            <a:r>
              <a:t>Jun 2026</a:t>
            </a:r>
          </a:p>
        </p:txBody>
      </p:sp>
      <p:sp>
        <p:nvSpPr>
          <p:cNvPr id="20" name="TextBox 19"/>
          <p:cNvSpPr txBox="1"/>
          <p:nvPr/>
        </p:nvSpPr>
        <p:spPr>
          <a:xfrm>
            <a:off x="8229600" y="3256120"/>
            <a:ext cx="3474720" cy="411480"/>
          </a:xfrm>
          <a:prstGeom prst="rect">
            <a:avLst/>
          </a:prstGeom>
          <a:noFill/>
        </p:spPr>
        <p:txBody>
          <a:bodyPr wrap="square">
            <a:spAutoFit/>
          </a:bodyPr>
          <a:lstStyle/>
          <a:p>
            <a:pPr algn="l">
              <a:defRPr sz="1400" b="0">
                <a:solidFill>
                  <a:srgbClr val="202020"/>
                </a:solidFill>
                <a:latin typeface="Calibri"/>
              </a:defRPr>
            </a:pPr>
            <a:r>
              <a:t>First complete draft</a:t>
            </a:r>
          </a:p>
        </p:txBody>
      </p:sp>
      <p:sp>
        <p:nvSpPr>
          <p:cNvPr id="21" name="Rectangle 20"/>
          <p:cNvSpPr/>
          <p:nvPr/>
        </p:nvSpPr>
        <p:spPr>
          <a:xfrm>
            <a:off x="6675120" y="3886199"/>
            <a:ext cx="1371600"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3896199"/>
            <a:ext cx="1371600" cy="365760"/>
          </a:xfrm>
          <a:prstGeom prst="rect">
            <a:avLst/>
          </a:prstGeom>
          <a:noFill/>
        </p:spPr>
        <p:txBody>
          <a:bodyPr wrap="square">
            <a:spAutoFit/>
          </a:bodyPr>
          <a:lstStyle/>
          <a:p>
            <a:pPr algn="ctr">
              <a:defRPr sz="1300" b="1">
                <a:solidFill>
                  <a:srgbClr val="FFFFFF"/>
                </a:solidFill>
                <a:latin typeface="Calibri"/>
              </a:defRPr>
            </a:pPr>
            <a:r>
              <a:t>Jul 2026</a:t>
            </a:r>
          </a:p>
        </p:txBody>
      </p:sp>
      <p:sp>
        <p:nvSpPr>
          <p:cNvPr id="23" name="TextBox 22"/>
          <p:cNvSpPr txBox="1"/>
          <p:nvPr/>
        </p:nvSpPr>
        <p:spPr>
          <a:xfrm>
            <a:off x="8229600" y="3896199"/>
            <a:ext cx="3474720" cy="411480"/>
          </a:xfrm>
          <a:prstGeom prst="rect">
            <a:avLst/>
          </a:prstGeom>
          <a:noFill/>
        </p:spPr>
        <p:txBody>
          <a:bodyPr wrap="square">
            <a:spAutoFit/>
          </a:bodyPr>
          <a:lstStyle/>
          <a:p>
            <a:pPr algn="l">
              <a:defRPr sz="1400" b="0">
                <a:solidFill>
                  <a:srgbClr val="202020"/>
                </a:solidFill>
                <a:latin typeface="Calibri"/>
              </a:defRPr>
            </a:pPr>
            <a:r>
              <a:t>Final submission</a:t>
            </a:r>
          </a:p>
        </p:txBody>
      </p:sp>
      <p:sp>
        <p:nvSpPr>
          <p:cNvPr id="24" name="Rectangle 23"/>
          <p:cNvSpPr/>
          <p:nvPr/>
        </p:nvSpPr>
        <p:spPr>
          <a:xfrm>
            <a:off x="6675120" y="4526280"/>
            <a:ext cx="1371600"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4536280"/>
            <a:ext cx="1371600" cy="365760"/>
          </a:xfrm>
          <a:prstGeom prst="rect">
            <a:avLst/>
          </a:prstGeom>
          <a:noFill/>
        </p:spPr>
        <p:txBody>
          <a:bodyPr wrap="square">
            <a:spAutoFit/>
          </a:bodyPr>
          <a:lstStyle/>
          <a:p>
            <a:pPr algn="ctr">
              <a:defRPr sz="1300" b="1">
                <a:solidFill>
                  <a:srgbClr val="FFFFFF"/>
                </a:solidFill>
                <a:latin typeface="Calibri"/>
              </a:defRPr>
            </a:pPr>
            <a:r>
              <a:t>Aug 2026</a:t>
            </a:r>
          </a:p>
        </p:txBody>
      </p:sp>
      <p:sp>
        <p:nvSpPr>
          <p:cNvPr id="26" name="TextBox 25"/>
          <p:cNvSpPr txBox="1"/>
          <p:nvPr/>
        </p:nvSpPr>
        <p:spPr>
          <a:xfrm>
            <a:off x="8229600" y="4536280"/>
            <a:ext cx="3474720" cy="411480"/>
          </a:xfrm>
          <a:prstGeom prst="rect">
            <a:avLst/>
          </a:prstGeom>
          <a:noFill/>
        </p:spPr>
        <p:txBody>
          <a:bodyPr wrap="square">
            <a:spAutoFit/>
          </a:bodyPr>
          <a:lstStyle/>
          <a:p>
            <a:pPr algn="l">
              <a:defRPr sz="1400" b="0">
                <a:solidFill>
                  <a:srgbClr val="202020"/>
                </a:solidFill>
                <a:latin typeface="Calibri"/>
              </a:defRPr>
            </a:pPr>
            <a:r>
              <a:t>Defense</a:t>
            </a:r>
          </a:p>
        </p:txBody>
      </p:sp>
      <p:sp>
        <p:nvSpPr>
          <p:cNvPr id="27" name="Rectangle 26"/>
          <p:cNvSpPr/>
          <p:nvPr/>
        </p:nvSpPr>
        <p:spPr>
          <a:xfrm>
            <a:off x="365760" y="5486400"/>
            <a:ext cx="11430000" cy="73152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532120"/>
            <a:ext cx="10972800" cy="640080"/>
          </a:xfrm>
          <a:prstGeom prst="rect">
            <a:avLst/>
          </a:prstGeom>
          <a:noFill/>
        </p:spPr>
        <p:txBody>
          <a:bodyPr wrap="square">
            <a:spAutoFit/>
          </a:bodyPr>
          <a:lstStyle/>
          <a:p>
            <a:pPr algn="l">
              <a:defRPr sz="1500" b="0">
                <a:solidFill>
                  <a:srgbClr val="1B3A5C"/>
                </a:solidFill>
                <a:latin typeface="Calibri"/>
              </a:defRPr>
            </a:pPr>
            <a:r>
              <a:t>Broader impact: This work narrows the search space for non-invasive rejection monitoring. Targeted biomarkers (stiffness, perfusion) outperform generic texture — future research should focus on what to measure, not just how to analyze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557</Words>
  <Application>Microsoft Macintosh PowerPoint</Application>
  <PresentationFormat>Widescreen</PresentationFormat>
  <Paragraphs>51</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Duhnev, Daniel</cp:lastModifiedBy>
  <cp:revision>2</cp:revision>
  <dcterms:created xsi:type="dcterms:W3CDTF">2013-01-27T09:14:16Z</dcterms:created>
  <dcterms:modified xsi:type="dcterms:W3CDTF">2026-04-12T18:47:23Z</dcterms:modified>
  <cp:category/>
</cp:coreProperties>
</file>